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5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6.xml" ContentType="application/vnd.openxmlformats-officedocument.presentationml.slide+xml"/>
  <Override PartName="/ppt/slides/slide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78DA82-067B-4A82-A49A-D53C533ACF70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Aula ampliada dos 4 pilares em nível de MODELAGEM, com autores/obras e exemplos do Melodia. Ao final, exercícios por tópico.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FD67CF-1BA1-48C8-93BB-2908C1F11F0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Mapa. A coluna 'Notação UML' é como o pilar aparece no desenho.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A5F2063-94CA-428B-B545-5353AD26319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 acadêmica. Cada pilar volta a citar o autor específico. Booch e Meyer são as referências centrais; Liskov e Martin sustentam herança/polimorfismo.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46F56B-E11B-40C9-9E31-0CCEF2CD59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Def. de Booch (citação literal). Dois sentidos: recorte e generalização. Larman: responsabilidades.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13FBCB-0990-412A-9CBB-FC51CB74E1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Recorte: do caos ao essencial. Reforce que 'essencial' depende do problema — mesma pessoa, recortes diferentes.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9BFBA4-9B17-46E4-BE4B-BDA54E929A9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Generalização: Usuario abstrai o comum. Nome em itálico + «abstract». Prepara herança/polimorfismo.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2E0984-7C1A-4253-B665-32695CED1FB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Mais exemplos de abstração: ConteudoDeAudio generaliza Musica/Podcast/Audiolivro. Níveis de abstração (Liskov &amp; Guttag).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24D4FE-C9DC-49F0-B4B6-EFCF5C7FE3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Extremos que falham. Cite a máxima de Sandi Metz: 'duplication is far cheaper than the wrong abstraction'.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5EFDF9-BD28-4407-A52D-B04C3C827DF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Def. de Parnas (1972). Duas faces: ocultar e proteger. Meyer: contrato (pré/pós/invariante).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9DE4DEC-205F-490F-B84A-5BB7C924551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Visibilidade é a marca do encapsulamento no diagrama. Comece restrito.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33C172-08DA-40B4-9381-3133361E17C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Invariante concreto. Não há setReproducoes. Bloch: minimize mutability.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7A25E8-89E5-45C7-87B4-967C505D6EB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Mais exemplos: máquina de estados protegida (Assinatura) e vazamento de coleção. Fowler: anti-padrão anêmico.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85AAAB8-10F9-490E-BBC8-11DBDB99D32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Antes/depois. Dado público = bug esperando acontecer.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D28D8EF-AD5C-415B-8A37-D38797F1DE7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Def. Booch + teste 'é um'. Herança é o acoplamento mais forte; Rumbaugh: generalização/especialização.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620D9FC-9719-48F2-99B6-A72D69D53EC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Notação: triângulo vazio no lado da superclasse. Atributos protegidos (#) são herdados.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0CA0D6D-5EAB-4B74-B0DE-049C53414A5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Valor da herança: DRY (Pragmatic Programmer). O comum na base; a mudança se propaga.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191A423-E7B2-4D85-9FCC-F71A6486B60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LSP: subtipo substituível. Contraexemplo Playlist/ArrayList. Bloch + GoF: composição sobre herança.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DFFB72-97A0-4BE2-8344-8803548E5AE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Erro clássico: herança sem 'é um' (fere LSP). Regra: 'é um' + substituível; na dúvida, composição.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343A988-B9FB-45D8-B0E8-6AD14E6141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Def. Cardelli &amp; Wegner. Uma operação (contrato), vários métodos. Ligação dinâmica.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F3DCF0-7DD2-4A9C-B710-0801BE23C45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diagrama: operação abstrata (itálico/*) na base, sobrescrita nas subclasses.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F797A0C-4D9A-4E59-AA35-5C643D21656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Mesma chamada, resultados diferentes. O chamador não usa if — o objeto decide.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E8C8701-90DC-4CD5-BCF2-02876D4A7EF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OCP (Martin): adicionar Podcaster não muda o chamador. Liga com Strategy (GoF).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B298D0-6DD7-4F16-84BC-5420F0369CA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 polimorfismo = if/instanceof espalhado (Feathers: difícil de mudar). Com = OCP.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A9542C-0591-45CE-96D6-A8A8B38BFA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Síntese visual: os quatro pilares num único diagrama.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3B4E1CD-66A3-4095-A12C-466599BE824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Recap acionável: faça/evite por pilar.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5074FB-613C-44B0-9A97-8301D0FE75B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Abre a seção de exercícios. Um bloco por pilar + integrador.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8C9EE63-DB4C-4EBC-98EF-433BCCC3B3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Integrador: os 4 pilares no domínio do grupo. Aponta o MD de apoio.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13EA03-8140-49FD-BDD5-0F6B32C0A6D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Exercícios de abstração: recorte, generalização, especulação (YAGNI), níveis de abstração.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5D5950C-FE77-4EBB-872C-DB943229E04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Exercícios de encapsulamento: invariante, máquina de estados protegida, vazamento de coleção, visibilidade.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CE06207-0739-4C9E-9A9A-630F221F64B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Exercícios de herança: teste 'é um', hierarquia, LSP (Playlist/ArrayList), composição sobre herança.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6DFC948-EE0D-47F6-8AF1-B663CED3D74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Exercícios de polimorfismo: redefinição, OCP (novo tipo), remover if de tipo, ligação com Strategy.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BC9E44-CE89-45F5-9DEE-9AE19C8BC4C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4B5A6FF-0008-49CD-A054-CDBD118B42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35630A-7DBD-44A5-9C66-1F22D47884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D939DE-EDF4-494E-921E-13867EEC55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2705EF5-C7D2-46D3-9BE5-DD08B89D6A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8E8B1B9-6487-4CB7-8EA7-DD150C0A19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6CA76AE-F914-457E-8808-1755B3E443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2B4F471-0EC0-42BC-A52A-A9B5775B5A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3FE7044-9AFA-40D8-B29D-C569F8DA36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B63992F-DA48-4235-827B-D0BCC5E0CD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4A9AC33-0511-4346-B53F-5AE662772B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B76170-E21E-4EC4-AC99-347161BA1A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A56866-9E73-4D58-A26A-E563ACD94F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548640" y="1417320"/>
            <a:ext cx="1109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ORIENTADOS A OBJETOS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548640" y="1874520"/>
            <a:ext cx="110937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Os Quatro Pilares da OO — em Modelagem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548640" y="2926080"/>
            <a:ext cx="11093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Abstração · Encapsulamento · Herança · Polimorfismo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" name="Connector 4"/>
          <p:cNvCxnSpPr/>
          <p:nvPr/>
        </p:nvCxnSpPr>
        <p:spPr>
          <a:xfrm>
            <a:off x="1097640" y="4140000"/>
            <a:ext cx="3841200" cy="720"/>
          </a:xfrm>
          <a:prstGeom prst="straightConnector1">
            <a:avLst/>
          </a:prstGeom>
          <a:ln w="19050">
            <a:solidFill>
              <a:srgbClr val="C9CED6"/>
            </a:solidFill>
            <a:round/>
          </a:ln>
        </p:spPr>
      </p:cxnSp>
      <p:sp>
        <p:nvSpPr>
          <p:cNvPr id="76" name="TextBox 5"/>
          <p:cNvSpPr/>
          <p:nvPr/>
        </p:nvSpPr>
        <p:spPr>
          <a:xfrm>
            <a:off x="1097640" y="3420000"/>
            <a:ext cx="11093760" cy="51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4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Foco em modelagem (UML), com base em Booch, Meyer, Liskov, Parnas, GoF, Martin e Larman.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4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Todos os exemplos usam a plataforma de streaming de música </a:t>
            </a:r>
            <a:r>
              <a:rPr lang="en-US" sz="14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Melodia</a:t>
            </a:r>
            <a:r>
              <a:rPr lang="en-US" sz="14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PANORAMA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48640" y="567000"/>
            <a:ext cx="11093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Os quatro pilares propostos da OO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9" name="Table 3"/>
          <p:cNvGraphicFramePr/>
          <p:nvPr/>
        </p:nvGraphicFramePr>
        <p:xfrm>
          <a:off x="548640" y="1417320"/>
          <a:ext cx="11063880" cy="28332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017520"/>
                <a:gridCol w="2743200"/>
              </a:tblGrid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Pilar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Pergunta que responde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No aplicativo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Notação UML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Abstração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Como mostro só o essencial?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Usuario / ConteudoDeAudio genéricos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nome em itálico «abstract»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Encapsulamento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Como protejo os dados?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reproducoes / status privados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- privado / + público / # protegido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Herança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Como reaproveito código?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Ouvinte/Artista é um Usuario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triângulo vazio ──▷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Polimorfismo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Como a mesma ação varia?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beneficios() por tipo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operação redefinida na subclasse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Rounded Rectangle 4"/>
          <p:cNvSpPr/>
          <p:nvPr/>
        </p:nvSpPr>
        <p:spPr>
          <a:xfrm>
            <a:off x="548640" y="4892040"/>
            <a:ext cx="11093760" cy="6393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731520" y="5108760"/>
            <a:ext cx="107280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Cada pilar tem uma marca visível no diagrama de classes. 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FUNDAMENTAÇÃO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548640" y="567000"/>
            <a:ext cx="11093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Conceitos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3"/>
          <p:cNvGraphicFramePr/>
          <p:nvPr/>
        </p:nvGraphicFramePr>
        <p:xfrm>
          <a:off x="548640" y="1371600"/>
          <a:ext cx="11063880" cy="4533120"/>
        </p:xfrm>
        <a:graphic>
          <a:graphicData uri="http://schemas.openxmlformats.org/drawingml/2006/table">
            <a:tbl>
              <a:tblPr/>
              <a:tblGrid>
                <a:gridCol w="4480560"/>
                <a:gridCol w="6583680"/>
              </a:tblGrid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Autor(es) / obra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Contribuição para os pilares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Booch — OOAD with Applications (1994)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objeto = estado + comportamento + identidade; abstração, encapsulamento, hierarquia, tipagem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Parnas — CACM (1972)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ocultamento de informação (cada módulo esconde uma decisão de projeto)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Meyer — Object-Oriented Software Construction (1997)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projeto por contrato; encapsulamento com pré/pós-condições e invariantes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Liskov &amp; Guttag (1986); Liskov (1994)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abstração de dados e o Princípio da Substituição (LSP) para herança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Cardelli &amp; Wegner — Comp. Surveys (1985)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teoria de tipos e polimorfismo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Gamma, Helm, Johnson, Vlissides — GoF (1994)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“prefira composição a herança”; “programe para uma interface”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R. C. Martin (2002); Larman (2004)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SOLID (OCP, LSP) e atribuição de responsabilidades (GRASP)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TextBox 4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1 — ABSTRAÇÃO (1/5)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é abstração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3"/>
          <p:cNvSpPr/>
          <p:nvPr/>
        </p:nvSpPr>
        <p:spPr>
          <a:xfrm>
            <a:off x="548640" y="1371600"/>
            <a:ext cx="11093760" cy="10508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731520" y="1490400"/>
            <a:ext cx="107280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5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Definição: 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“Abstração denota as características essenciais de um objeto que o distinguem de todos os outros tipos de objeto” — destacando o essencial e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ignorando o irrelevante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para o problema.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731520" y="207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— Booch, Object-Oriented Analysis and Design with Applications (1994).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548640" y="2743200"/>
            <a:ext cx="1109376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Dois sentidos na modelagem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548640" y="3420000"/>
            <a:ext cx="110937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1)  Recorte —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guardar só os atributos/operações que o problema precisa (um ouvinte real tem altura, cidade, time de futebol… o sistema fica com nome, e-mail, assinatura).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2)  Generalização —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criar um tipo genérico (classe abstrata) que representa vários específicos. É a base da herança e do polimorfismo.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548640" y="4937760"/>
            <a:ext cx="11093760" cy="7308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731520" y="5047560"/>
            <a:ext cx="107280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Larman (Applying UML and Patterns):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modelar é atribuir responsabilidades a abstrações — decidir quem sabe o quê. Abstrair bem é o primeiro passo do bom design.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1 — ABSTRAÇÃO (2/5)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Recorte: só o essencial ao problema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3"/>
          <p:cNvSpPr/>
          <p:nvPr/>
        </p:nvSpPr>
        <p:spPr>
          <a:xfrm>
            <a:off x="1097280" y="1920240"/>
            <a:ext cx="4571280" cy="274248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 w="12700">
            <a:solidFill>
              <a:srgbClr val="B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1280160" y="205740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🌍 Mundo real (infinitos detalhes)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1280160" y="2468880"/>
            <a:ext cx="4205520" cy="15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Ana Souza · 1,65 m · gosta de rock · mora em Santos · torce pelo time X · aniversário em maio · fone bluetooth · plano Premium · e-mail ana@… · 3 playlists · segue 12 artistas… etc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Connector 6"/>
          <p:cNvCxnSpPr/>
          <p:nvPr/>
        </p:nvCxnSpPr>
        <p:spPr>
          <a:xfrm>
            <a:off x="5852160" y="3291840"/>
            <a:ext cx="915120" cy="720"/>
          </a:xfrm>
          <a:prstGeom prst="straightConnector1">
            <a:avLst/>
          </a:prstGeom>
          <a:ln w="19050">
            <a:solidFill>
              <a:srgbClr val="5B6570"/>
            </a:solidFill>
            <a:round/>
            <a:tailEnd len="med" type="triangle" w="med"/>
          </a:ln>
        </p:spPr>
      </p:cxnSp>
      <p:sp>
        <p:nvSpPr>
          <p:cNvPr id="106" name="Rectangle 7"/>
          <p:cNvSpPr/>
          <p:nvPr/>
        </p:nvSpPr>
        <p:spPr>
          <a:xfrm>
            <a:off x="7040880" y="2617200"/>
            <a:ext cx="3108240" cy="982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7040880" y="2638440"/>
            <a:ext cx="310824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Usuário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9"/>
          <p:cNvCxnSpPr/>
          <p:nvPr/>
        </p:nvCxnSpPr>
        <p:spPr>
          <a:xfrm>
            <a:off x="7040880" y="2889360"/>
            <a:ext cx="310968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09" name="TextBox 10"/>
          <p:cNvSpPr/>
          <p:nvPr/>
        </p:nvSpPr>
        <p:spPr>
          <a:xfrm>
            <a:off x="7132320" y="2935080"/>
            <a:ext cx="292536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nome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email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assinatura : Assinatura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7040880" y="3794760"/>
            <a:ext cx="3291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só o que o sistema precisa saber para reproduzir e cobrar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2"/>
          <p:cNvSpPr/>
          <p:nvPr/>
        </p:nvSpPr>
        <p:spPr>
          <a:xfrm>
            <a:off x="548640" y="4937760"/>
            <a:ext cx="11093760" cy="7308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731520" y="5098320"/>
            <a:ext cx="1072800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essencial depende do domínio: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num sistema de saúde, o tipo sanguíneo do usuário importaria; no app de música, não. 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Abstração é relativa ao problema (Booch).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4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5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1 — ABSTRAÇÃO (3/5)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Generalização: a classe abstrata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548640" y="1325880"/>
            <a:ext cx="1109376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 e Artista têm coisas em comum. A abstração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Usuario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reúne o essencial compartilhado. Na UML, é uma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classe abstrata «abstract» (nome em itálico)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— não se instancia.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4"/>
          <p:cNvSpPr/>
          <p:nvPr/>
        </p:nvSpPr>
        <p:spPr>
          <a:xfrm>
            <a:off x="4754880" y="2148840"/>
            <a:ext cx="2742480" cy="941040"/>
          </a:xfrm>
          <a:prstGeom prst="rect">
            <a:avLst/>
          </a:prstGeom>
          <a:solidFill>
            <a:srgbClr val="EDE7F6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4754880" y="21672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«abstract»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Usuario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0" name="Connector 6"/>
          <p:cNvCxnSpPr/>
          <p:nvPr/>
        </p:nvCxnSpPr>
        <p:spPr>
          <a:xfrm>
            <a:off x="4754880" y="2624040"/>
            <a:ext cx="27435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21" name="TextBox 7"/>
          <p:cNvSpPr/>
          <p:nvPr/>
        </p:nvSpPr>
        <p:spPr>
          <a:xfrm>
            <a:off x="4846320" y="2670120"/>
            <a:ext cx="25596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nome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email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8"/>
          <p:cNvSpPr/>
          <p:nvPr/>
        </p:nvSpPr>
        <p:spPr>
          <a:xfrm>
            <a:off x="2011680" y="4069080"/>
            <a:ext cx="237672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2011680" y="408744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10"/>
          <p:cNvSpPr/>
          <p:nvPr/>
        </p:nvSpPr>
        <p:spPr>
          <a:xfrm>
            <a:off x="7772400" y="4069080"/>
            <a:ext cx="237672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7772400" y="408744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Artista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Isosceles Triangle 12"/>
          <p:cNvSpPr/>
          <p:nvPr/>
        </p:nvSpPr>
        <p:spPr>
          <a:xfrm>
            <a:off x="5952600" y="3090600"/>
            <a:ext cx="346680" cy="218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27" name="Connector 13"/>
          <p:cNvCxnSpPr/>
          <p:nvPr/>
        </p:nvCxnSpPr>
        <p:spPr>
          <a:xfrm flipV="1">
            <a:off x="3200400" y="3309840"/>
            <a:ext cx="2926800" cy="7599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128" name="Connector 14"/>
          <p:cNvCxnSpPr/>
          <p:nvPr/>
        </p:nvCxnSpPr>
        <p:spPr>
          <a:xfrm flipH="1" flipV="1">
            <a:off x="6126480" y="3309840"/>
            <a:ext cx="2835360" cy="7599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sp>
        <p:nvSpPr>
          <p:cNvPr id="129" name="Rounded Rectangle 15"/>
          <p:cNvSpPr/>
          <p:nvPr/>
        </p:nvSpPr>
        <p:spPr>
          <a:xfrm>
            <a:off x="548640" y="5120640"/>
            <a:ext cx="11093760" cy="68508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731520" y="5230440"/>
            <a:ext cx="10728000" cy="46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«abstract»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marca um conceito genérico: existe para ser especializado, não para virar objeto direto. É o que Booch chama de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hierarquia de generalização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7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1 — ABSTRAÇÃO (4/5)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Mais um exemplo: tipos de conteúdo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548640" y="1325880"/>
            <a:ext cx="1109376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app vai além de músicas: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Podcast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Audiolivro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 Todos são “algo que se reproduz”. A abstração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ConteudoDeAudio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captura o essencial comum.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4"/>
          <p:cNvSpPr/>
          <p:nvPr/>
        </p:nvSpPr>
        <p:spPr>
          <a:xfrm>
            <a:off x="4480560" y="2011680"/>
            <a:ext cx="3199680" cy="1220040"/>
          </a:xfrm>
          <a:prstGeom prst="rect">
            <a:avLst/>
          </a:prstGeom>
          <a:solidFill>
            <a:srgbClr val="EDE7F6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4480560" y="2030040"/>
            <a:ext cx="3199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«abstract»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ConteudoDeAudio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Connector 6"/>
          <p:cNvCxnSpPr/>
          <p:nvPr/>
        </p:nvCxnSpPr>
        <p:spPr>
          <a:xfrm>
            <a:off x="4480560" y="2486880"/>
            <a:ext cx="32011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39" name="TextBox 7"/>
          <p:cNvSpPr/>
          <p:nvPr/>
        </p:nvSpPr>
        <p:spPr>
          <a:xfrm>
            <a:off x="4572000" y="2532960"/>
            <a:ext cx="30168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titulo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duracaoSegundos : int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8"/>
          <p:cNvCxnSpPr/>
          <p:nvPr/>
        </p:nvCxnSpPr>
        <p:spPr>
          <a:xfrm>
            <a:off x="4480560" y="2953440"/>
            <a:ext cx="32011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41" name="TextBox 9"/>
          <p:cNvSpPr/>
          <p:nvPr/>
        </p:nvSpPr>
        <p:spPr>
          <a:xfrm>
            <a:off x="4572000" y="2999160"/>
            <a:ext cx="30168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reproduzir()* void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10"/>
          <p:cNvSpPr/>
          <p:nvPr/>
        </p:nvSpPr>
        <p:spPr>
          <a:xfrm>
            <a:off x="1097280" y="4297680"/>
            <a:ext cx="237672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1097280" y="431604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Musica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2"/>
          <p:cNvSpPr/>
          <p:nvPr/>
        </p:nvSpPr>
        <p:spPr>
          <a:xfrm>
            <a:off x="4892040" y="4297680"/>
            <a:ext cx="237672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3"/>
          <p:cNvSpPr/>
          <p:nvPr/>
        </p:nvSpPr>
        <p:spPr>
          <a:xfrm>
            <a:off x="4892040" y="431604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Podcast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4"/>
          <p:cNvSpPr/>
          <p:nvPr/>
        </p:nvSpPr>
        <p:spPr>
          <a:xfrm>
            <a:off x="8686800" y="4297680"/>
            <a:ext cx="237672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5"/>
          <p:cNvSpPr/>
          <p:nvPr/>
        </p:nvSpPr>
        <p:spPr>
          <a:xfrm>
            <a:off x="8686800" y="431604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Audiolivro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Isosceles Triangle 16"/>
          <p:cNvSpPr/>
          <p:nvPr/>
        </p:nvSpPr>
        <p:spPr>
          <a:xfrm>
            <a:off x="5906880" y="3232440"/>
            <a:ext cx="346680" cy="218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9" name="Connector 17"/>
          <p:cNvCxnSpPr/>
          <p:nvPr/>
        </p:nvCxnSpPr>
        <p:spPr>
          <a:xfrm flipV="1">
            <a:off x="2286000" y="3451680"/>
            <a:ext cx="3795480" cy="84672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150" name="Connector 18"/>
          <p:cNvCxnSpPr/>
          <p:nvPr/>
        </p:nvCxnSpPr>
        <p:spPr>
          <a:xfrm flipV="1">
            <a:off x="6080400" y="3451680"/>
            <a:ext cx="1080" cy="84672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151" name="Connector 19"/>
          <p:cNvCxnSpPr/>
          <p:nvPr/>
        </p:nvCxnSpPr>
        <p:spPr>
          <a:xfrm flipH="1" flipV="1">
            <a:off x="6080760" y="3451680"/>
            <a:ext cx="3795480" cy="84672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sp>
        <p:nvSpPr>
          <p:cNvPr id="152" name="Rounded Rectangle 20"/>
          <p:cNvSpPr/>
          <p:nvPr/>
        </p:nvSpPr>
        <p:spPr>
          <a:xfrm>
            <a:off x="548640" y="5394960"/>
            <a:ext cx="11093760" cy="7308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1"/>
          <p:cNvSpPr/>
          <p:nvPr/>
        </p:nvSpPr>
        <p:spPr>
          <a:xfrm>
            <a:off x="731520" y="5504760"/>
            <a:ext cx="107280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Níveis de abstração (Liskov &amp; Guttag, 1986):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“reproduzir” é alto nível (o que o usuário quer); buffer, codec e rede são baixo nível — escondidos pela abstração.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2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3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1 — ABSTRAÇÃO (5/5)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acontece se não usar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3"/>
          <p:cNvSpPr/>
          <p:nvPr/>
        </p:nvSpPr>
        <p:spPr>
          <a:xfrm>
            <a:off x="548640" y="137160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 w="12700">
            <a:solidFill>
              <a:srgbClr val="B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731520" y="1481400"/>
            <a:ext cx="10728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❌ Detalhe demais: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diagrama enche de atributos irrelevantes e fica ilegível; ninguém acha o que importa.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5"/>
          <p:cNvSpPr/>
          <p:nvPr/>
        </p:nvSpPr>
        <p:spPr>
          <a:xfrm>
            <a:off x="548640" y="228600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 w="12700">
            <a:solidFill>
              <a:srgbClr val="B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731520" y="2395800"/>
            <a:ext cx="10728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❌ Sem generalização: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titulo/duracao repetidos em Musica, Podcast e Audiolivro — mudou um, tem de mudar em todos.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7"/>
          <p:cNvSpPr/>
          <p:nvPr/>
        </p:nvSpPr>
        <p:spPr>
          <a:xfrm>
            <a:off x="548640" y="320040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 w="12700">
            <a:solidFill>
              <a:srgbClr val="B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731520" y="3310200"/>
            <a:ext cx="10728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❌ Abstração especulativa: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criar ConteudoBaseAbstratoFactory “para o futuro” incha o modelo sem necessidade (viola YAGNI).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9"/>
          <p:cNvSpPr/>
          <p:nvPr/>
        </p:nvSpPr>
        <p:spPr>
          <a:xfrm>
            <a:off x="548640" y="4297680"/>
            <a:ext cx="11093760" cy="8222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731520" y="4407480"/>
            <a:ext cx="107280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🧭 Regra: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abstraia o essencial </a:t>
            </a: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do problema atual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 “Duplicação é mais barata que a abstração errada” (Sandi Metz).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1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2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2 — ENCAPSULAMENTO (1/5)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é encapsulamento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3"/>
          <p:cNvSpPr/>
          <p:nvPr/>
        </p:nvSpPr>
        <p:spPr>
          <a:xfrm>
            <a:off x="548640" y="1371600"/>
            <a:ext cx="11093760" cy="10965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4"/>
          <p:cNvSpPr/>
          <p:nvPr/>
        </p:nvSpPr>
        <p:spPr>
          <a:xfrm>
            <a:off x="900000" y="1371600"/>
            <a:ext cx="107280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Definição:  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Encapsular é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esconder o estado interno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de um objeto, expondo-o só por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operações controladas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 Parnas: cada módulo deve “esconder uma decisão de projeto” das demais.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731520" y="212148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— Parnas, On the Criteria To Be Used in Decomposing Systems into Modules (CACM, 1972).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6"/>
          <p:cNvSpPr/>
          <p:nvPr/>
        </p:nvSpPr>
        <p:spPr>
          <a:xfrm>
            <a:off x="548640" y="2788920"/>
            <a:ext cx="1109376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Ocultar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(atributo privado) — o mundo externo não depende de como o objeto guarda o dado.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Proteger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(operações que validam) — mantêm os invariantes: regras que valem sempre.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7"/>
          <p:cNvSpPr/>
          <p:nvPr/>
        </p:nvSpPr>
        <p:spPr>
          <a:xfrm>
            <a:off x="548640" y="443484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8"/>
          <p:cNvSpPr/>
          <p:nvPr/>
        </p:nvSpPr>
        <p:spPr>
          <a:xfrm>
            <a:off x="731520" y="4544640"/>
            <a:ext cx="10728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Meyer (Design by Contract):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cada operação tem pré-condição (o que exige) e pós-condição (o que garante); o objeto mantém um invariante de classe entre chamadas.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9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0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2 — ENCAPSULAMENTO (2/5)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Na modelagem: visibilidade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Table 3"/>
          <p:cNvGraphicFramePr/>
          <p:nvPr/>
        </p:nvGraphicFramePr>
        <p:xfrm>
          <a:off x="548640" y="1463040"/>
          <a:ext cx="5668920" cy="23760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2286000"/>
              </a:tblGrid>
              <a:tr h="47520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Símbolo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Visibilidade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Quem enxerga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</a:tr>
              <a:tr h="47520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-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privado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só a própria classe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+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público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qualquer um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#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protegido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 classe e suas subclasses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~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pacote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classes do mesmo pacote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Rectangle 4"/>
          <p:cNvSpPr/>
          <p:nvPr/>
        </p:nvSpPr>
        <p:spPr>
          <a:xfrm>
            <a:off x="7315200" y="1828800"/>
            <a:ext cx="3839760" cy="14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7315200" y="1847160"/>
            <a:ext cx="3839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Musica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3" name="Connector 6"/>
          <p:cNvCxnSpPr/>
          <p:nvPr/>
        </p:nvCxnSpPr>
        <p:spPr>
          <a:xfrm>
            <a:off x="7315200" y="2157840"/>
            <a:ext cx="384120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84" name="TextBox 7"/>
          <p:cNvSpPr/>
          <p:nvPr/>
        </p:nvSpPr>
        <p:spPr>
          <a:xfrm>
            <a:off x="7406640" y="2203560"/>
            <a:ext cx="3656880" cy="5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titulo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duracaoSegundos : int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reproducoes : int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Connector 8"/>
          <p:cNvCxnSpPr/>
          <p:nvPr/>
        </p:nvCxnSpPr>
        <p:spPr>
          <a:xfrm>
            <a:off x="7315200" y="2811600"/>
            <a:ext cx="384120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86" name="TextBox 9"/>
          <p:cNvSpPr/>
          <p:nvPr/>
        </p:nvSpPr>
        <p:spPr>
          <a:xfrm>
            <a:off x="7406640" y="2857320"/>
            <a:ext cx="365688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registrarReproducao()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getReproducoes() int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0"/>
          <p:cNvSpPr/>
          <p:nvPr/>
        </p:nvSpPr>
        <p:spPr>
          <a:xfrm>
            <a:off x="548640" y="4572000"/>
            <a:ext cx="11093760" cy="8222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1"/>
          <p:cNvSpPr/>
          <p:nvPr/>
        </p:nvSpPr>
        <p:spPr>
          <a:xfrm>
            <a:off x="731520" y="4681800"/>
            <a:ext cx="107280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Regra de modelagem: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atributos </a:t>
            </a: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(privados)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; acesso por operações </a:t>
            </a: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(públicas)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que validam. Comece o mais restrito possível e só abra o necessário.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2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3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2 — ENCAPSULAMENTO (3/5)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Exemplo: o invariante das reproduções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"/>
          <p:cNvSpPr/>
          <p:nvPr/>
        </p:nvSpPr>
        <p:spPr>
          <a:xfrm>
            <a:off x="4480560" y="1417320"/>
            <a:ext cx="4205520" cy="126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4480560" y="1435680"/>
            <a:ext cx="42055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Musica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5" name="Connector 5"/>
          <p:cNvCxnSpPr/>
          <p:nvPr/>
        </p:nvCxnSpPr>
        <p:spPr>
          <a:xfrm>
            <a:off x="4480560" y="1746360"/>
            <a:ext cx="42069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96" name="TextBox 6"/>
          <p:cNvSpPr/>
          <p:nvPr/>
        </p:nvSpPr>
        <p:spPr>
          <a:xfrm>
            <a:off x="4572000" y="1792080"/>
            <a:ext cx="402264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titulo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reproducoes : int  {&gt;= 0, só aumenta}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7" name="Connector 7"/>
          <p:cNvCxnSpPr/>
          <p:nvPr/>
        </p:nvCxnSpPr>
        <p:spPr>
          <a:xfrm>
            <a:off x="4480560" y="2212560"/>
            <a:ext cx="42069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198" name="TextBox 8"/>
          <p:cNvSpPr/>
          <p:nvPr/>
        </p:nvSpPr>
        <p:spPr>
          <a:xfrm>
            <a:off x="4572000" y="2258640"/>
            <a:ext cx="402264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registrarReproducao()  // única porta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getReproducoes() int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9"/>
          <p:cNvSpPr/>
          <p:nvPr/>
        </p:nvSpPr>
        <p:spPr>
          <a:xfrm>
            <a:off x="548640" y="3383280"/>
            <a:ext cx="110937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 reproduções alimentam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royalties dos artistas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o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ranking Top 50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 reproducoes é </a:t>
            </a: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privado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só muda por registrarReproducao().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Invariante protegido: </a:t>
            </a:r>
            <a:r>
              <a:rPr lang="en-US" sz="14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“as reproduções nunca diminuem nem recebem valor arbitrário”.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10"/>
          <p:cNvSpPr/>
          <p:nvPr/>
        </p:nvSpPr>
        <p:spPr>
          <a:xfrm>
            <a:off x="548640" y="470916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731520" y="4994280"/>
            <a:ext cx="107280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Bloch (Effective Java):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“minimize a mutabilidade” e exponha o mínimo. Quanto menos vias de mudança, menos problemas de estado.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3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2 — ENCAPSULAMENTO (4/5)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Mais exemplos: estado e coleções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3"/>
          <p:cNvSpPr/>
          <p:nvPr/>
        </p:nvSpPr>
        <p:spPr>
          <a:xfrm>
            <a:off x="1097280" y="1554480"/>
            <a:ext cx="3565440" cy="1261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1097280" y="1572840"/>
            <a:ext cx="35654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Assinatura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8" name="Connector 5"/>
          <p:cNvCxnSpPr/>
          <p:nvPr/>
        </p:nvCxnSpPr>
        <p:spPr>
          <a:xfrm>
            <a:off x="1097280" y="1883520"/>
            <a:ext cx="356688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09" name="TextBox 6"/>
          <p:cNvSpPr/>
          <p:nvPr/>
        </p:nvSpPr>
        <p:spPr>
          <a:xfrm>
            <a:off x="1188720" y="1929240"/>
            <a:ext cx="338256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status : StatusAssinatura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plano : Plano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0" name="Connector 7"/>
          <p:cNvCxnSpPr/>
          <p:nvPr/>
        </p:nvCxnSpPr>
        <p:spPr>
          <a:xfrm>
            <a:off x="1097280" y="2349720"/>
            <a:ext cx="356688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11" name="TextBox 8"/>
          <p:cNvSpPr/>
          <p:nvPr/>
        </p:nvSpPr>
        <p:spPr>
          <a:xfrm>
            <a:off x="1188720" y="2395800"/>
            <a:ext cx="338256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cancelar()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reativar()  {só se SUSPENSA}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4937760" y="1554480"/>
            <a:ext cx="661320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1) Invariante de ciclo de vida: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status muda só por operações. reativar() exige que a assinatura esteja SUSPENSA; uma CANCELADA não volta.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2) Não vazar coleções: 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getMusicas() de uma Playlist deve devolver uma visão somente-leitura — nunca a lista interna mutável.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10"/>
          <p:cNvSpPr/>
          <p:nvPr/>
        </p:nvSpPr>
        <p:spPr>
          <a:xfrm>
            <a:off x="548640" y="4480560"/>
            <a:ext cx="11093760" cy="8222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1"/>
          <p:cNvSpPr/>
          <p:nvPr/>
        </p:nvSpPr>
        <p:spPr>
          <a:xfrm>
            <a:off x="731520" y="4590360"/>
            <a:ext cx="107280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Fowler (AnemicDomainModel):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 a classe só tem get/set e a regra vive fora dela, o encapsulamento é “de fachada”. Dados e regras devem morar juntos.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3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2 — ENCAPSULAMENTO (5/5)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acontece se não usar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"/>
          <p:cNvSpPr/>
          <p:nvPr/>
        </p:nvSpPr>
        <p:spPr>
          <a:xfrm>
            <a:off x="1097280" y="1417320"/>
            <a:ext cx="4937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❌ Sem encapsulamento (atributo público)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4"/>
          <p:cNvSpPr/>
          <p:nvPr/>
        </p:nvSpPr>
        <p:spPr>
          <a:xfrm>
            <a:off x="1554480" y="1783080"/>
            <a:ext cx="3108240" cy="607320"/>
          </a:xfrm>
          <a:prstGeom prst="rect">
            <a:avLst/>
          </a:prstGeom>
          <a:solidFill>
            <a:srgbClr val="F8D7DA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1554480" y="1801440"/>
            <a:ext cx="3108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Musica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2" name="Connector 6"/>
          <p:cNvCxnSpPr/>
          <p:nvPr/>
        </p:nvCxnSpPr>
        <p:spPr>
          <a:xfrm>
            <a:off x="1554480" y="2112120"/>
            <a:ext cx="310968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23" name="TextBox 7"/>
          <p:cNvSpPr/>
          <p:nvPr/>
        </p:nvSpPr>
        <p:spPr>
          <a:xfrm>
            <a:off x="1645920" y="2157840"/>
            <a:ext cx="29253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reproducoes : int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8"/>
          <p:cNvSpPr/>
          <p:nvPr/>
        </p:nvSpPr>
        <p:spPr>
          <a:xfrm>
            <a:off x="1097280" y="2743200"/>
            <a:ext cx="4937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Qualquer código faz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musica.reproducoes = 0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corrompe ranking e royalties. O erro de uma pessoa vira incidente de todos.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9"/>
          <p:cNvSpPr/>
          <p:nvPr/>
        </p:nvSpPr>
        <p:spPr>
          <a:xfrm>
            <a:off x="6675120" y="1417320"/>
            <a:ext cx="49370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✅ Com encapsulamento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0"/>
          <p:cNvSpPr/>
          <p:nvPr/>
        </p:nvSpPr>
        <p:spPr>
          <a:xfrm>
            <a:off x="7132320" y="1783080"/>
            <a:ext cx="3382560" cy="88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1"/>
          <p:cNvSpPr/>
          <p:nvPr/>
        </p:nvSpPr>
        <p:spPr>
          <a:xfrm>
            <a:off x="7132320" y="1801440"/>
            <a:ext cx="3382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Musica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8" name="Connector 12"/>
          <p:cNvCxnSpPr/>
          <p:nvPr/>
        </p:nvCxnSpPr>
        <p:spPr>
          <a:xfrm>
            <a:off x="7132320" y="2112120"/>
            <a:ext cx="338400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29" name="TextBox 13"/>
          <p:cNvSpPr/>
          <p:nvPr/>
        </p:nvSpPr>
        <p:spPr>
          <a:xfrm>
            <a:off x="7223760" y="2157840"/>
            <a:ext cx="3199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reproducoes : int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Connector 14"/>
          <p:cNvCxnSpPr/>
          <p:nvPr/>
        </p:nvCxnSpPr>
        <p:spPr>
          <a:xfrm>
            <a:off x="7132320" y="2391120"/>
            <a:ext cx="338400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31" name="TextBox 15"/>
          <p:cNvSpPr/>
          <p:nvPr/>
        </p:nvSpPr>
        <p:spPr>
          <a:xfrm>
            <a:off x="7223760" y="2436840"/>
            <a:ext cx="319968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registrarReproducao()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6"/>
          <p:cNvSpPr/>
          <p:nvPr/>
        </p:nvSpPr>
        <p:spPr>
          <a:xfrm>
            <a:off x="6675120" y="3063240"/>
            <a:ext cx="49370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estado inválido fica </a:t>
            </a:r>
            <a:r>
              <a:rPr lang="en-US" sz="13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impossível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só a operação muda o valor, e ela só incrementa.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17"/>
          <p:cNvSpPr/>
          <p:nvPr/>
        </p:nvSpPr>
        <p:spPr>
          <a:xfrm>
            <a:off x="548640" y="475488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8"/>
          <p:cNvSpPr/>
          <p:nvPr/>
        </p:nvSpPr>
        <p:spPr>
          <a:xfrm>
            <a:off x="731520" y="4864680"/>
            <a:ext cx="10728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🧭 Encapsulamento não é purismo: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é o que impede que o erro de uma pessoa vire incidente de todos (Parnas).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9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0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19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3 — HERANÇA (1/5)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é herança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ounded Rectangle 3"/>
          <p:cNvSpPr/>
          <p:nvPr/>
        </p:nvSpPr>
        <p:spPr>
          <a:xfrm>
            <a:off x="548640" y="1371600"/>
            <a:ext cx="11093760" cy="10508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731520" y="1490400"/>
            <a:ext cx="107280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lang="en-US" sz="15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Definição.  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Herança permite que uma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subclasse especialize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uma superclasse,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reaproveitando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seus atributos e operações. Vale o teste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“é um”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-900000" y="180000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— Booch (1994).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6"/>
          <p:cNvSpPr/>
          <p:nvPr/>
        </p:nvSpPr>
        <p:spPr>
          <a:xfrm>
            <a:off x="548640" y="2743200"/>
            <a:ext cx="11093760" cy="15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teste “é um”: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só modele herança quando “Subclasse é uma Superclasse” for verdadeiro.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</a:t>
            </a: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 é um Usuario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✓  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</a:t>
            </a: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Artista é um Usuario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✓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</a:t>
            </a: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Playlist é uma Lista?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✗ — Playlist </a:t>
            </a:r>
            <a:r>
              <a:rPr lang="en-US" sz="150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tem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músicas (composição/agregação), não “é” uma lista.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7"/>
          <p:cNvSpPr/>
          <p:nvPr/>
        </p:nvSpPr>
        <p:spPr>
          <a:xfrm>
            <a:off x="548640" y="4709160"/>
            <a:ext cx="11093760" cy="7308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8"/>
          <p:cNvSpPr/>
          <p:nvPr/>
        </p:nvSpPr>
        <p:spPr>
          <a:xfrm>
            <a:off x="731520" y="4971600"/>
            <a:ext cx="107280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Herança expressa generalização/especialização (Rumbaugh, OMT).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É a relação mais forte entre classes. (use com parcimônia).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9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0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3 — HERANÇA (2/5)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Na modelagem: generalização (triângulo vazio)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3"/>
          <p:cNvSpPr/>
          <p:nvPr/>
        </p:nvSpPr>
        <p:spPr>
          <a:xfrm>
            <a:off x="4754880" y="1554480"/>
            <a:ext cx="2742480" cy="941040"/>
          </a:xfrm>
          <a:prstGeom prst="rect">
            <a:avLst/>
          </a:prstGeom>
          <a:solidFill>
            <a:srgbClr val="EDE7F6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4"/>
          <p:cNvSpPr/>
          <p:nvPr/>
        </p:nvSpPr>
        <p:spPr>
          <a:xfrm>
            <a:off x="4754880" y="157284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«abstract»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Usuario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ctor 5"/>
          <p:cNvCxnSpPr/>
          <p:nvPr/>
        </p:nvCxnSpPr>
        <p:spPr>
          <a:xfrm>
            <a:off x="4754880" y="2029680"/>
            <a:ext cx="27435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52" name="TextBox 6"/>
          <p:cNvSpPr/>
          <p:nvPr/>
        </p:nvSpPr>
        <p:spPr>
          <a:xfrm>
            <a:off x="4846320" y="2075760"/>
            <a:ext cx="255960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nome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email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7"/>
          <p:cNvSpPr/>
          <p:nvPr/>
        </p:nvSpPr>
        <p:spPr>
          <a:xfrm>
            <a:off x="1828800" y="3657600"/>
            <a:ext cx="2651040" cy="60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8"/>
          <p:cNvSpPr/>
          <p:nvPr/>
        </p:nvSpPr>
        <p:spPr>
          <a:xfrm>
            <a:off x="1828800" y="3675960"/>
            <a:ext cx="26510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ctor 9"/>
          <p:cNvCxnSpPr/>
          <p:nvPr/>
        </p:nvCxnSpPr>
        <p:spPr>
          <a:xfrm>
            <a:off x="1828800" y="3986640"/>
            <a:ext cx="265248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56" name="TextBox 10"/>
          <p:cNvSpPr/>
          <p:nvPr/>
        </p:nvSpPr>
        <p:spPr>
          <a:xfrm>
            <a:off x="1920240" y="4032360"/>
            <a:ext cx="24681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playlists : List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11"/>
          <p:cNvSpPr/>
          <p:nvPr/>
        </p:nvSpPr>
        <p:spPr>
          <a:xfrm>
            <a:off x="7680960" y="3657600"/>
            <a:ext cx="2651040" cy="60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2"/>
          <p:cNvSpPr/>
          <p:nvPr/>
        </p:nvSpPr>
        <p:spPr>
          <a:xfrm>
            <a:off x="7680960" y="3675960"/>
            <a:ext cx="26510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Artista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9" name="Connector 13"/>
          <p:cNvCxnSpPr/>
          <p:nvPr/>
        </p:nvCxnSpPr>
        <p:spPr>
          <a:xfrm>
            <a:off x="7680960" y="3986640"/>
            <a:ext cx="265248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260" name="TextBox 14"/>
          <p:cNvSpPr/>
          <p:nvPr/>
        </p:nvSpPr>
        <p:spPr>
          <a:xfrm>
            <a:off x="7772400" y="4032360"/>
            <a:ext cx="246816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nomeArtistico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Isosceles Triangle 15"/>
          <p:cNvSpPr/>
          <p:nvPr/>
        </p:nvSpPr>
        <p:spPr>
          <a:xfrm>
            <a:off x="5952600" y="2496240"/>
            <a:ext cx="346680" cy="218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62" name="Connector 16"/>
          <p:cNvCxnSpPr/>
          <p:nvPr/>
        </p:nvCxnSpPr>
        <p:spPr>
          <a:xfrm flipV="1">
            <a:off x="3154680" y="2715480"/>
            <a:ext cx="2972520" cy="94284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263" name="Connector 17"/>
          <p:cNvCxnSpPr/>
          <p:nvPr/>
        </p:nvCxnSpPr>
        <p:spPr>
          <a:xfrm flipH="1" flipV="1">
            <a:off x="6126480" y="2715480"/>
            <a:ext cx="2881080" cy="94284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sp>
        <p:nvSpPr>
          <p:cNvPr id="264" name="Rounded Rectangle 18"/>
          <p:cNvSpPr/>
          <p:nvPr/>
        </p:nvSpPr>
        <p:spPr>
          <a:xfrm>
            <a:off x="548640" y="5120640"/>
            <a:ext cx="11093760" cy="7308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9"/>
          <p:cNvSpPr/>
          <p:nvPr/>
        </p:nvSpPr>
        <p:spPr>
          <a:xfrm>
            <a:off x="731520" y="5230440"/>
            <a:ext cx="107280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linha com </a:t>
            </a: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triângulo vazio ──▷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aponta para a superclasse. Ouvinte e Artista herdam nome/email (protegidos, #) e acrescentam só o que é seu.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20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21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3 — HERANÇA (3/5)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ganho: reúso sem duplicar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0" name="Table 3"/>
          <p:cNvGraphicFramePr/>
          <p:nvPr/>
        </p:nvGraphicFramePr>
        <p:xfrm>
          <a:off x="548640" y="1508760"/>
          <a:ext cx="11063880" cy="226656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14800"/>
              </a:tblGrid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Onde mora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Sem herança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Com herança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nome, email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repetidos em Ouvinte e Artista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uma vez, em Usuario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mudar a regra de e-mail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em 2 (ou N) lugares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em 1 lugar (a base)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novo tipo (ex.: Podcaster)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copia tudo de novo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estende Usuario e herda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1" name="Rounded Rectangle 4"/>
          <p:cNvSpPr/>
          <p:nvPr/>
        </p:nvSpPr>
        <p:spPr>
          <a:xfrm>
            <a:off x="548640" y="4297680"/>
            <a:ext cx="11093760" cy="8679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5"/>
          <p:cNvSpPr/>
          <p:nvPr/>
        </p:nvSpPr>
        <p:spPr>
          <a:xfrm>
            <a:off x="731520" y="4407480"/>
            <a:ext cx="1072800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Herança bem usada elimina duplicação (DRY, Hunt &amp; Thomas — The Pragmatic Programmer):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comum vive num só lugar, e a mudança se propaga para todas as subclasses.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6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7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3 — HERANÇA (4/5)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limite: substituição (LSP)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3"/>
          <p:cNvSpPr/>
          <p:nvPr/>
        </p:nvSpPr>
        <p:spPr>
          <a:xfrm>
            <a:off x="548640" y="1325880"/>
            <a:ext cx="11093760" cy="10965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4"/>
          <p:cNvSpPr/>
          <p:nvPr/>
        </p:nvSpPr>
        <p:spPr>
          <a:xfrm>
            <a:off x="731520" y="1444680"/>
            <a:ext cx="1072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Princípio da Substituição de Liskov (LSP).  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objetos de uma subclasse devem poder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substituir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os da superclasse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sem quebrar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o programa. Se a subclasse não “se comporta como” a base, a herança está errada.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5"/>
          <p:cNvSpPr/>
          <p:nvPr/>
        </p:nvSpPr>
        <p:spPr>
          <a:xfrm>
            <a:off x="731520" y="207576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— Liskov (1994); ver também R. C. Martin, SOLID (o “L”).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6"/>
          <p:cNvSpPr/>
          <p:nvPr/>
        </p:nvSpPr>
        <p:spPr>
          <a:xfrm>
            <a:off x="548640" y="2697480"/>
            <a:ext cx="110937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 app: 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onde o sistema espera um Usuario, um Ouvinte ou um Artista devem funcionar. Isso vale ✓.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4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Contraexemplo: </a:t>
            </a:r>
            <a:r>
              <a:rPr lang="en-US" sz="14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Playlist extends ArrayList herda add(), mas também remove(), clear()… que não fazem sentido — e viola o LSP.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7"/>
          <p:cNvSpPr/>
          <p:nvPr/>
        </p:nvSpPr>
        <p:spPr>
          <a:xfrm>
            <a:off x="548640" y="4251960"/>
            <a:ext cx="11093760" cy="8679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8"/>
          <p:cNvSpPr/>
          <p:nvPr/>
        </p:nvSpPr>
        <p:spPr>
          <a:xfrm>
            <a:off x="731520" y="4361760"/>
            <a:ext cx="1072800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Bloch (Effective Java):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“projete e documente para herança, ou então proíba-a”; e “prefira composição a herança” (GoF).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9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0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3 — HERANÇA (5/5)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acontece se usar errado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3"/>
          <p:cNvSpPr/>
          <p:nvPr/>
        </p:nvSpPr>
        <p:spPr>
          <a:xfrm>
            <a:off x="548640" y="1371600"/>
            <a:ext cx="11093760" cy="95940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 w="12700">
            <a:solidFill>
              <a:srgbClr val="B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4"/>
          <p:cNvSpPr/>
          <p:nvPr/>
        </p:nvSpPr>
        <p:spPr>
          <a:xfrm>
            <a:off x="731520" y="1481400"/>
            <a:ext cx="1072800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❌ Herança forçada (sem “é um”):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Playlist herdando de Lista só para reusar add(). A Playlist expõe toda a interface da Lista e fica presa a ela (fere o LSP).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5"/>
          <p:cNvSpPr/>
          <p:nvPr/>
        </p:nvSpPr>
        <p:spPr>
          <a:xfrm>
            <a:off x="548640" y="2514600"/>
            <a:ext cx="11093760" cy="82224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 w="12700">
            <a:solidFill>
              <a:srgbClr val="B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6"/>
          <p:cNvSpPr/>
          <p:nvPr/>
        </p:nvSpPr>
        <p:spPr>
          <a:xfrm>
            <a:off x="731520" y="2624400"/>
            <a:ext cx="107280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❌ Duplicação por medo de herdar: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copiar atributos entre classes parecidas gera inconsistência quando uma muda e a outra não.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7"/>
          <p:cNvSpPr/>
          <p:nvPr/>
        </p:nvSpPr>
        <p:spPr>
          <a:xfrm>
            <a:off x="548640" y="3566160"/>
            <a:ext cx="11093760" cy="182808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8"/>
          <p:cNvSpPr/>
          <p:nvPr/>
        </p:nvSpPr>
        <p:spPr>
          <a:xfrm>
            <a:off x="731520" y="3703320"/>
            <a:ext cx="1072800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5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🧭 Regra de ouro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Herança </a:t>
            </a: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só no “é um” verdadeiro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substituível (LSP). Se for “tem um”, use composição/agregação.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Na dúvida, </a:t>
            </a: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prefira composição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(GoF): mais flexível e menos acoplada que herança.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0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4 — POLIMORFISMO (1/5)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é polimorfismo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3"/>
          <p:cNvSpPr/>
          <p:nvPr/>
        </p:nvSpPr>
        <p:spPr>
          <a:xfrm>
            <a:off x="548640" y="1371600"/>
            <a:ext cx="11093760" cy="10965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4"/>
          <p:cNvSpPr/>
          <p:nvPr/>
        </p:nvSpPr>
        <p:spPr>
          <a:xfrm>
            <a:off x="731520" y="1490400"/>
            <a:ext cx="1072800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5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Definição: 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Polimorfismo é a capacidade de uma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mesma mensagem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produzir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comportamentos diferentes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conforme o </a:t>
            </a:r>
            <a:r>
              <a:rPr lang="en-US" sz="15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tipo real</a:t>
            </a:r>
            <a:r>
              <a:rPr lang="en-US" sz="15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do objeto (ligação dinâmica).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5"/>
          <p:cNvSpPr/>
          <p:nvPr/>
        </p:nvSpPr>
        <p:spPr>
          <a:xfrm>
            <a:off x="731520" y="2121480"/>
            <a:ext cx="1072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— Cardelli &amp; Wegner, On Understanding Types, Data Abstraction, and Polymorphism (1985); Booch (1994).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6"/>
          <p:cNvSpPr/>
          <p:nvPr/>
        </p:nvSpPr>
        <p:spPr>
          <a:xfrm>
            <a:off x="548640" y="2788920"/>
            <a:ext cx="1109376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“Poli-morfismo” = muitas formas.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mesma operação, respostas diferentes por tipo.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283"/>
              </a:spcBef>
              <a:spcAft>
                <a:spcPts val="283"/>
              </a:spcAft>
            </a:pP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Operação × método: 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operação é o contrato (declarado na superclasse, muitas vezes abstrato); o método é a implementação — uma por subclasse.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7"/>
          <p:cNvSpPr/>
          <p:nvPr/>
        </p:nvSpPr>
        <p:spPr>
          <a:xfrm>
            <a:off x="548640" y="443484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8"/>
          <p:cNvSpPr/>
          <p:nvPr/>
        </p:nvSpPr>
        <p:spPr>
          <a:xfrm>
            <a:off x="731520" y="4544640"/>
            <a:ext cx="10728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É o polimorfismo de subtipo (Cardelli &amp; Wegner).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escolha do método acontece em tempo de execução — “ligação dinâmica” (late binding).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9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0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4 — POLIMORFISMO (2/5)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Na modelagem: operação redefinida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3"/>
          <p:cNvSpPr/>
          <p:nvPr/>
        </p:nvSpPr>
        <p:spPr>
          <a:xfrm>
            <a:off x="4754880" y="1508760"/>
            <a:ext cx="2925360" cy="753840"/>
          </a:xfrm>
          <a:prstGeom prst="rect">
            <a:avLst/>
          </a:prstGeom>
          <a:solidFill>
            <a:srgbClr val="EDE7F6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4"/>
          <p:cNvSpPr/>
          <p:nvPr/>
        </p:nvSpPr>
        <p:spPr>
          <a:xfrm>
            <a:off x="4754880" y="152712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«abstract»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Usuario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9" name="Connector 5"/>
          <p:cNvCxnSpPr/>
          <p:nvPr/>
        </p:nvCxnSpPr>
        <p:spPr>
          <a:xfrm>
            <a:off x="4754880" y="1983960"/>
            <a:ext cx="292680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10" name="TextBox 6"/>
          <p:cNvSpPr/>
          <p:nvPr/>
        </p:nvSpPr>
        <p:spPr>
          <a:xfrm>
            <a:off x="4846320" y="2030040"/>
            <a:ext cx="274248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beneficios()*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7"/>
          <p:cNvSpPr/>
          <p:nvPr/>
        </p:nvSpPr>
        <p:spPr>
          <a:xfrm>
            <a:off x="1828800" y="3657600"/>
            <a:ext cx="2742480" cy="60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8"/>
          <p:cNvSpPr/>
          <p:nvPr/>
        </p:nvSpPr>
        <p:spPr>
          <a:xfrm>
            <a:off x="1828800" y="367596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3" name="Connector 9"/>
          <p:cNvCxnSpPr/>
          <p:nvPr/>
        </p:nvCxnSpPr>
        <p:spPr>
          <a:xfrm>
            <a:off x="1828800" y="3986640"/>
            <a:ext cx="27439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14" name="TextBox 10"/>
          <p:cNvSpPr/>
          <p:nvPr/>
        </p:nvSpPr>
        <p:spPr>
          <a:xfrm>
            <a:off x="1920240" y="403236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1"/>
          <p:cNvSpPr/>
          <p:nvPr/>
        </p:nvSpPr>
        <p:spPr>
          <a:xfrm>
            <a:off x="7680960" y="3657600"/>
            <a:ext cx="2742480" cy="60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2"/>
          <p:cNvSpPr/>
          <p:nvPr/>
        </p:nvSpPr>
        <p:spPr>
          <a:xfrm>
            <a:off x="7680960" y="367596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Artista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7" name="Connector 13"/>
          <p:cNvCxnSpPr/>
          <p:nvPr/>
        </p:nvCxnSpPr>
        <p:spPr>
          <a:xfrm>
            <a:off x="7680960" y="3986640"/>
            <a:ext cx="27439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18" name="TextBox 14"/>
          <p:cNvSpPr/>
          <p:nvPr/>
        </p:nvSpPr>
        <p:spPr>
          <a:xfrm>
            <a:off x="7772400" y="403236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Isosceles Triangle 15"/>
          <p:cNvSpPr/>
          <p:nvPr/>
        </p:nvSpPr>
        <p:spPr>
          <a:xfrm>
            <a:off x="6044040" y="2262960"/>
            <a:ext cx="346680" cy="218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20" name="Connector 16"/>
          <p:cNvCxnSpPr/>
          <p:nvPr/>
        </p:nvCxnSpPr>
        <p:spPr>
          <a:xfrm flipV="1">
            <a:off x="3200400" y="2482560"/>
            <a:ext cx="3018240" cy="11757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321" name="Connector 17"/>
          <p:cNvCxnSpPr/>
          <p:nvPr/>
        </p:nvCxnSpPr>
        <p:spPr>
          <a:xfrm flipH="1" flipV="1">
            <a:off x="6217920" y="2482560"/>
            <a:ext cx="2835360" cy="11757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sp>
        <p:nvSpPr>
          <p:cNvPr id="322" name="Rounded Rectangle 18"/>
          <p:cNvSpPr/>
          <p:nvPr/>
        </p:nvSpPr>
        <p:spPr>
          <a:xfrm>
            <a:off x="548640" y="5212080"/>
            <a:ext cx="11093760" cy="73080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19"/>
          <p:cNvSpPr/>
          <p:nvPr/>
        </p:nvSpPr>
        <p:spPr>
          <a:xfrm>
            <a:off x="731520" y="5321880"/>
            <a:ext cx="107280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beneficios()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é </a:t>
            </a: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abstrata (*) na base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</a:t>
            </a: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redefinida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em cada subclasse: 1 operação (contrato), N implementações (uma por tipo).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20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1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4 — POLIMORFISMO (3/5)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A mesma mensagem, respostas diferentes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3"/>
          <p:cNvSpPr/>
          <p:nvPr/>
        </p:nvSpPr>
        <p:spPr>
          <a:xfrm>
            <a:off x="4937760" y="1463040"/>
            <a:ext cx="2742480" cy="753840"/>
          </a:xfrm>
          <a:prstGeom prst="rect">
            <a:avLst/>
          </a:prstGeom>
          <a:solidFill>
            <a:srgbClr val="EDE7F6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4"/>
          <p:cNvSpPr/>
          <p:nvPr/>
        </p:nvSpPr>
        <p:spPr>
          <a:xfrm>
            <a:off x="4937760" y="14814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«abstract»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Usuario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0" name="Connector 5"/>
          <p:cNvCxnSpPr/>
          <p:nvPr/>
        </p:nvCxnSpPr>
        <p:spPr>
          <a:xfrm>
            <a:off x="4937760" y="1938240"/>
            <a:ext cx="27439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31" name="TextBox 6"/>
          <p:cNvSpPr/>
          <p:nvPr/>
        </p:nvSpPr>
        <p:spPr>
          <a:xfrm>
            <a:off x="5029200" y="198432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beneficios()*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7"/>
          <p:cNvSpPr/>
          <p:nvPr/>
        </p:nvSpPr>
        <p:spPr>
          <a:xfrm>
            <a:off x="1463040" y="3383280"/>
            <a:ext cx="3291120" cy="60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8"/>
          <p:cNvSpPr/>
          <p:nvPr/>
        </p:nvSpPr>
        <p:spPr>
          <a:xfrm>
            <a:off x="1463040" y="340164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4" name="Connector 9"/>
          <p:cNvCxnSpPr/>
          <p:nvPr/>
        </p:nvCxnSpPr>
        <p:spPr>
          <a:xfrm>
            <a:off x="1463040" y="3712320"/>
            <a:ext cx="32925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35" name="TextBox 10"/>
          <p:cNvSpPr/>
          <p:nvPr/>
        </p:nvSpPr>
        <p:spPr>
          <a:xfrm>
            <a:off x="1554480" y="3758040"/>
            <a:ext cx="31082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→ “streaming + playlists”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11"/>
          <p:cNvSpPr/>
          <p:nvPr/>
        </p:nvSpPr>
        <p:spPr>
          <a:xfrm>
            <a:off x="7498080" y="3383280"/>
            <a:ext cx="3291120" cy="60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12"/>
          <p:cNvSpPr/>
          <p:nvPr/>
        </p:nvSpPr>
        <p:spPr>
          <a:xfrm>
            <a:off x="7498080" y="3401640"/>
            <a:ext cx="32911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Artista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8" name="Connector 13"/>
          <p:cNvCxnSpPr/>
          <p:nvPr/>
        </p:nvCxnSpPr>
        <p:spPr>
          <a:xfrm>
            <a:off x="7497720" y="3712320"/>
            <a:ext cx="32925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39" name="TextBox 14"/>
          <p:cNvSpPr/>
          <p:nvPr/>
        </p:nvSpPr>
        <p:spPr>
          <a:xfrm>
            <a:off x="7589520" y="3758040"/>
            <a:ext cx="31082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→ “publicar + royalties”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Isosceles Triangle 15"/>
          <p:cNvSpPr/>
          <p:nvPr/>
        </p:nvSpPr>
        <p:spPr>
          <a:xfrm>
            <a:off x="6135480" y="2217600"/>
            <a:ext cx="346680" cy="218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41" name="Connector 16"/>
          <p:cNvCxnSpPr/>
          <p:nvPr/>
        </p:nvCxnSpPr>
        <p:spPr>
          <a:xfrm flipV="1">
            <a:off x="3108960" y="2436840"/>
            <a:ext cx="3201120" cy="9471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342" name="Connector 17"/>
          <p:cNvCxnSpPr/>
          <p:nvPr/>
        </p:nvCxnSpPr>
        <p:spPr>
          <a:xfrm flipH="1" flipV="1">
            <a:off x="6309360" y="2436840"/>
            <a:ext cx="2835360" cy="9471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sp>
        <p:nvSpPr>
          <p:cNvPr id="343" name="Rounded Rectangle 18"/>
          <p:cNvSpPr/>
          <p:nvPr/>
        </p:nvSpPr>
        <p:spPr>
          <a:xfrm>
            <a:off x="548640" y="4663440"/>
            <a:ext cx="11093760" cy="8679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19"/>
          <p:cNvSpPr/>
          <p:nvPr/>
        </p:nvSpPr>
        <p:spPr>
          <a:xfrm>
            <a:off x="731520" y="4773240"/>
            <a:ext cx="10728000" cy="64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usuario.beneficios()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→  depende do objeto real: um Ouvinte responde uma coisa, um Artista outra. </a:t>
            </a: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Quem chama não precisa saber o tipo.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20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1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4 — POLIMORFISMO (4/5)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Por que importa: extensão sem mexer (OCP)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3"/>
          <p:cNvSpPr/>
          <p:nvPr/>
        </p:nvSpPr>
        <p:spPr>
          <a:xfrm>
            <a:off x="4754880" y="1463040"/>
            <a:ext cx="2742480" cy="753840"/>
          </a:xfrm>
          <a:prstGeom prst="rect">
            <a:avLst/>
          </a:prstGeom>
          <a:solidFill>
            <a:srgbClr val="EDE7F6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4"/>
          <p:cNvSpPr/>
          <p:nvPr/>
        </p:nvSpPr>
        <p:spPr>
          <a:xfrm>
            <a:off x="4754880" y="14814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«abstract»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Usuario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1" name="Connector 5"/>
          <p:cNvCxnSpPr/>
          <p:nvPr/>
        </p:nvCxnSpPr>
        <p:spPr>
          <a:xfrm>
            <a:off x="4754880" y="1938240"/>
            <a:ext cx="27435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52" name="TextBox 6"/>
          <p:cNvSpPr/>
          <p:nvPr/>
        </p:nvSpPr>
        <p:spPr>
          <a:xfrm>
            <a:off x="4846320" y="198432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beneficios()*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7"/>
          <p:cNvSpPr/>
          <p:nvPr/>
        </p:nvSpPr>
        <p:spPr>
          <a:xfrm>
            <a:off x="1280160" y="3291840"/>
            <a:ext cx="237672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8"/>
          <p:cNvSpPr/>
          <p:nvPr/>
        </p:nvSpPr>
        <p:spPr>
          <a:xfrm>
            <a:off x="1280160" y="331020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9"/>
          <p:cNvSpPr/>
          <p:nvPr/>
        </p:nvSpPr>
        <p:spPr>
          <a:xfrm>
            <a:off x="4892040" y="3291840"/>
            <a:ext cx="2376720" cy="328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10"/>
          <p:cNvSpPr/>
          <p:nvPr/>
        </p:nvSpPr>
        <p:spPr>
          <a:xfrm>
            <a:off x="4892040" y="331020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Artista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11"/>
          <p:cNvSpPr/>
          <p:nvPr/>
        </p:nvSpPr>
        <p:spPr>
          <a:xfrm>
            <a:off x="8503920" y="3291840"/>
            <a:ext cx="2376720" cy="328320"/>
          </a:xfrm>
          <a:prstGeom prst="rect">
            <a:avLst/>
          </a:prstGeom>
          <a:solidFill>
            <a:srgbClr val="E8F5E9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12"/>
          <p:cNvSpPr/>
          <p:nvPr/>
        </p:nvSpPr>
        <p:spPr>
          <a:xfrm>
            <a:off x="8503920" y="3310200"/>
            <a:ext cx="237672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Podcaster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Isosceles Triangle 13"/>
          <p:cNvSpPr/>
          <p:nvPr/>
        </p:nvSpPr>
        <p:spPr>
          <a:xfrm>
            <a:off x="5952600" y="2217600"/>
            <a:ext cx="346680" cy="218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60" name="Connector 14"/>
          <p:cNvCxnSpPr/>
          <p:nvPr/>
        </p:nvCxnSpPr>
        <p:spPr>
          <a:xfrm flipV="1">
            <a:off x="2468880" y="2436840"/>
            <a:ext cx="3658320" cy="85572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361" name="Connector 15"/>
          <p:cNvCxnSpPr/>
          <p:nvPr/>
        </p:nvCxnSpPr>
        <p:spPr>
          <a:xfrm flipV="1">
            <a:off x="6080400" y="2436840"/>
            <a:ext cx="46800" cy="85572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362" name="Connector 16"/>
          <p:cNvCxnSpPr/>
          <p:nvPr/>
        </p:nvCxnSpPr>
        <p:spPr>
          <a:xfrm flipH="1" flipV="1">
            <a:off x="6126480" y="2436840"/>
            <a:ext cx="3566880" cy="85572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sp>
        <p:nvSpPr>
          <p:cNvPr id="363" name="TextBox 17"/>
          <p:cNvSpPr/>
          <p:nvPr/>
        </p:nvSpPr>
        <p:spPr>
          <a:xfrm>
            <a:off x="8229600" y="3977640"/>
            <a:ext cx="3016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i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novo tipo: só implementa beneficios()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18"/>
          <p:cNvSpPr/>
          <p:nvPr/>
        </p:nvSpPr>
        <p:spPr>
          <a:xfrm>
            <a:off x="548640" y="4480560"/>
            <a:ext cx="11093760" cy="91368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19"/>
          <p:cNvSpPr/>
          <p:nvPr/>
        </p:nvSpPr>
        <p:spPr>
          <a:xfrm>
            <a:off x="731520" y="4590360"/>
            <a:ext cx="1072800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💡 Princípio Aberto/Fechado (Martin):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aberto para extensão (novo tipo Podcaster), fechado para modificação (o código que chama beneficios() não muda). O padrão Strategy (GoF) usa a mesma ideia.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20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1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4 — POLIMORFISMO (5/5)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que acontece se não usar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ounded Rectangle 3"/>
          <p:cNvSpPr/>
          <p:nvPr/>
        </p:nvSpPr>
        <p:spPr>
          <a:xfrm>
            <a:off x="548640" y="1371600"/>
            <a:ext cx="11093760" cy="73080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 w="12700">
            <a:solidFill>
              <a:srgbClr val="B060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4"/>
          <p:cNvSpPr/>
          <p:nvPr/>
        </p:nvSpPr>
        <p:spPr>
          <a:xfrm>
            <a:off x="731520" y="1481400"/>
            <a:ext cx="107280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B06060"/>
                </a:solidFill>
                <a:effectLst/>
                <a:uFillTx/>
                <a:latin typeface="Calibri"/>
              </a:rPr>
              <a:t>❌ Sem polimorfismo: 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comportamento por tipo vira uma cascata de if espalhada: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5"/>
          <p:cNvSpPr/>
          <p:nvPr/>
        </p:nvSpPr>
        <p:spPr>
          <a:xfrm>
            <a:off x="1463040" y="2240280"/>
            <a:ext cx="9234720" cy="959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6"/>
          <p:cNvSpPr/>
          <p:nvPr/>
        </p:nvSpPr>
        <p:spPr>
          <a:xfrm>
            <a:off x="1645920" y="2340720"/>
            <a:ext cx="88689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if (usuario é Ouvinte) { … } else if (usuario é Artista) { … } else if (…) { … }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lang="en-US" sz="12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…repetido em vários pontos do sistema.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7"/>
          <p:cNvSpPr/>
          <p:nvPr/>
        </p:nvSpPr>
        <p:spPr>
          <a:xfrm>
            <a:off x="548640" y="3429000"/>
            <a:ext cx="1109376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Cada </a:t>
            </a:r>
            <a:r>
              <a:rPr lang="en-US" sz="14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novo tipo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obriga a caçar e alterar todos esses if — frágil e propenso a erro. </a:t>
            </a:r>
            <a:r>
              <a:rPr lang="en-US" sz="140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Feathers (Working Effectively with Legacy Code)</a:t>
            </a:r>
            <a:r>
              <a:rPr lang="en-US" sz="14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chama isso de código difícil de mudar com segurança.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ounded Rectangle 8"/>
          <p:cNvSpPr/>
          <p:nvPr/>
        </p:nvSpPr>
        <p:spPr>
          <a:xfrm>
            <a:off x="548640" y="4434840"/>
            <a:ext cx="11093760" cy="77652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9"/>
          <p:cNvSpPr/>
          <p:nvPr/>
        </p:nvSpPr>
        <p:spPr>
          <a:xfrm>
            <a:off x="731520" y="4544640"/>
            <a:ext cx="107280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🧭 Substitua o if de tipo por polimorfismo: </a:t>
            </a:r>
            <a:r>
              <a:rPr lang="en-US" sz="135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deixe cada objeto responder por si. É a base do OCP.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0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1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29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OS QUATRO JUNTOS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Um diagrama, os quatro pilares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3"/>
          <p:cNvSpPr/>
          <p:nvPr/>
        </p:nvSpPr>
        <p:spPr>
          <a:xfrm>
            <a:off x="4754880" y="1463040"/>
            <a:ext cx="2833920" cy="1220040"/>
          </a:xfrm>
          <a:prstGeom prst="rect">
            <a:avLst/>
          </a:prstGeom>
          <a:solidFill>
            <a:srgbClr val="EDE7F6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4754880" y="1481400"/>
            <a:ext cx="283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«abstract»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Usuario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3" name="Connector 5"/>
          <p:cNvCxnSpPr/>
          <p:nvPr/>
        </p:nvCxnSpPr>
        <p:spPr>
          <a:xfrm>
            <a:off x="4754880" y="1938240"/>
            <a:ext cx="28353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84" name="TextBox 6"/>
          <p:cNvSpPr/>
          <p:nvPr/>
        </p:nvSpPr>
        <p:spPr>
          <a:xfrm>
            <a:off x="4846320" y="1984320"/>
            <a:ext cx="2651040" cy="39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nome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# email :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5" name="Connector 7"/>
          <p:cNvCxnSpPr/>
          <p:nvPr/>
        </p:nvCxnSpPr>
        <p:spPr>
          <a:xfrm>
            <a:off x="4754880" y="2404800"/>
            <a:ext cx="283536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86" name="TextBox 8"/>
          <p:cNvSpPr/>
          <p:nvPr/>
        </p:nvSpPr>
        <p:spPr>
          <a:xfrm>
            <a:off x="4846320" y="2450520"/>
            <a:ext cx="26510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beneficios()* String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ectangle 9"/>
          <p:cNvSpPr/>
          <p:nvPr/>
        </p:nvSpPr>
        <p:spPr>
          <a:xfrm>
            <a:off x="1554480" y="3840480"/>
            <a:ext cx="2742480" cy="88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10"/>
          <p:cNvSpPr/>
          <p:nvPr/>
        </p:nvSpPr>
        <p:spPr>
          <a:xfrm>
            <a:off x="1554480" y="385884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Ouvinte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9" name="Connector 11"/>
          <p:cNvCxnSpPr/>
          <p:nvPr/>
        </p:nvCxnSpPr>
        <p:spPr>
          <a:xfrm>
            <a:off x="1554480" y="4169520"/>
            <a:ext cx="27439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90" name="TextBox 12"/>
          <p:cNvSpPr/>
          <p:nvPr/>
        </p:nvSpPr>
        <p:spPr>
          <a:xfrm>
            <a:off x="1645920" y="421524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assinatura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1" name="Connector 13"/>
          <p:cNvCxnSpPr/>
          <p:nvPr/>
        </p:nvCxnSpPr>
        <p:spPr>
          <a:xfrm>
            <a:off x="1554480" y="4448520"/>
            <a:ext cx="27439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92" name="TextBox 14"/>
          <p:cNvSpPr/>
          <p:nvPr/>
        </p:nvSpPr>
        <p:spPr>
          <a:xfrm>
            <a:off x="1645920" y="449424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ectangle 15"/>
          <p:cNvSpPr/>
          <p:nvPr/>
        </p:nvSpPr>
        <p:spPr>
          <a:xfrm>
            <a:off x="7863840" y="3840480"/>
            <a:ext cx="2742480" cy="88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16"/>
          <p:cNvSpPr/>
          <p:nvPr/>
        </p:nvSpPr>
        <p:spPr>
          <a:xfrm>
            <a:off x="7863840" y="385884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Artista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5" name="Connector 17"/>
          <p:cNvCxnSpPr/>
          <p:nvPr/>
        </p:nvCxnSpPr>
        <p:spPr>
          <a:xfrm>
            <a:off x="7863840" y="4169520"/>
            <a:ext cx="27439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96" name="TextBox 18"/>
          <p:cNvSpPr/>
          <p:nvPr/>
        </p:nvSpPr>
        <p:spPr>
          <a:xfrm>
            <a:off x="7955280" y="421524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- nomeArtistico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7" name="Connector 19"/>
          <p:cNvCxnSpPr/>
          <p:nvPr/>
        </p:nvCxnSpPr>
        <p:spPr>
          <a:xfrm>
            <a:off x="7863840" y="4448520"/>
            <a:ext cx="2743920" cy="720"/>
          </a:xfrm>
          <a:prstGeom prst="straightConnector1">
            <a:avLst/>
          </a:prstGeom>
          <a:ln w="12700">
            <a:solidFill>
              <a:srgbClr val="6C8EBF"/>
            </a:solidFill>
            <a:round/>
          </a:ln>
        </p:spPr>
      </p:cxnSp>
      <p:sp>
        <p:nvSpPr>
          <p:cNvPr id="398" name="TextBox 20"/>
          <p:cNvSpPr/>
          <p:nvPr/>
        </p:nvSpPr>
        <p:spPr>
          <a:xfrm>
            <a:off x="7955280" y="4494240"/>
            <a:ext cx="25596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+ beneficios()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Isosceles Triangle 21"/>
          <p:cNvSpPr/>
          <p:nvPr/>
        </p:nvSpPr>
        <p:spPr>
          <a:xfrm>
            <a:off x="5998320" y="2683800"/>
            <a:ext cx="346680" cy="21888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400" name="Connector 22"/>
          <p:cNvCxnSpPr/>
          <p:nvPr/>
        </p:nvCxnSpPr>
        <p:spPr>
          <a:xfrm flipV="1">
            <a:off x="2926080" y="2903040"/>
            <a:ext cx="3246840" cy="9381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cxnSp>
        <p:nvCxnSpPr>
          <p:cNvPr id="401" name="Connector 23"/>
          <p:cNvCxnSpPr/>
          <p:nvPr/>
        </p:nvCxnSpPr>
        <p:spPr>
          <a:xfrm flipH="1" flipV="1">
            <a:off x="6172200" y="2903040"/>
            <a:ext cx="3063960" cy="938160"/>
          </a:xfrm>
          <a:prstGeom prst="straightConnector1">
            <a:avLst/>
          </a:prstGeom>
          <a:ln w="15875">
            <a:solidFill>
              <a:srgbClr val="5B6570"/>
            </a:solidFill>
            <a:round/>
          </a:ln>
        </p:spPr>
      </p:cxnSp>
      <p:sp>
        <p:nvSpPr>
          <p:cNvPr id="402" name="TextBox 24"/>
          <p:cNvSpPr/>
          <p:nvPr/>
        </p:nvSpPr>
        <p:spPr>
          <a:xfrm>
            <a:off x="548640" y="5440680"/>
            <a:ext cx="11093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Abstração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(Usuario «abstract»)  ·  </a:t>
            </a: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Encapsulamento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(# e -)  ·  </a:t>
            </a: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Herança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(──▷)  ·  </a:t>
            </a: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Polimorfismo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(beneficios() redefinida)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5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26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SÍNTESE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Regra de ouro dos pilares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7" name="Table 3"/>
          <p:cNvGraphicFramePr/>
          <p:nvPr/>
        </p:nvGraphicFramePr>
        <p:xfrm>
          <a:off x="548640" y="1463040"/>
          <a:ext cx="11063880" cy="276624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49968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Pilar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Faça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Evite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Abstração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 essencial do problema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detalhe demais / generalizar “para o futuro”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Encapsulamento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atributos - ; acesso por + que valida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atributos públicos sem regra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Herança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só no “é um” substituível (LSP)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herança forçada / duplicação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Polimorfismo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operação redefinida por tipo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if/instanceof por tipo espalhado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8" name="Rounded Rectangle 4"/>
          <p:cNvSpPr/>
          <p:nvPr/>
        </p:nvSpPr>
        <p:spPr>
          <a:xfrm>
            <a:off x="548640" y="5029200"/>
            <a:ext cx="11093760" cy="63936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731520" y="5245920"/>
            <a:ext cx="107280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Abstraia o essencial · proteja o estado · herde só no “é um” · deixe cada objeto responder por si.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6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Exercícios por tópico — Melodia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3"/>
          <p:cNvSpPr/>
          <p:nvPr/>
        </p:nvSpPr>
        <p:spPr>
          <a:xfrm>
            <a:off x="548640" y="1417320"/>
            <a:ext cx="11093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Os exercícios abaixo são de </a:t>
            </a: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modelagem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(desenhe e justifique diagramas de classes) usando o streaming </a:t>
            </a:r>
            <a:r>
              <a:rPr lang="en-US" sz="1500" b="0" i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Melodia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 Nos próximos slides, um bloco por pilar; ao final, um exercício integrador para o projeto do grupo.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5" name="Table 4"/>
          <p:cNvGraphicFramePr/>
          <p:nvPr/>
        </p:nvGraphicFramePr>
        <p:xfrm>
          <a:off x="548640" y="2468880"/>
          <a:ext cx="11063880" cy="25596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1192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Bloco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Foco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9ECF1"/>
                    </a:solidFill>
                  </a:tcPr>
                </a:tc>
              </a:tr>
              <a:tr h="51192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Abstração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recorte do essencial + generalização de tipos de conteúdo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Encapsulamento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visibilidade + invariantes + não vazar coleções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Herança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teste “é um” + LSP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1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Polimorfismo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18000" rIns="54720" bIns="180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operação redefinida + OCP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54720" marT="18000" marB="180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6" name="TextBox 5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6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172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Exercício de POO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343080" indent="-343080" algn="l" defTabSz="457200"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Mídias de Áudio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28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Midia (Abstrata): id, titulo, duracaoSegundos (privados), totalReproducoes. Possui o método abstrato reproduzir().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28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Musica (Herda de Midia): artista, estilo. Sobrescreve reproduzir() exibindo o artista.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28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Podcast (Herda de Midia): host, numeroEpisodio. Sobrescreve reproduzir() tocando vinheta comercial.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757"/>
              </a:spcBef>
              <a:spcAft>
                <a:spcPts val="1559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Usuários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28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Usuario (Classe Base): nome, email, senha (privada).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28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UsuarioFree (Herda de Usuario): ouvirMidia(midia) reproduz anúncio antes do áudio.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28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UsuarioPremium (Herda de Usuario): mensalidade, ouvirMidia(midia) sem anúncios e método baixarParaOffline().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28"/>
              </a:spcBef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Desafio no Draw.io: Desenhar o Diagrama de Classes indicando Abstração, Encapsulamento, Herança e Polimorfismo.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Box 1"/>
          <p:cNvSpPr/>
          <p:nvPr/>
        </p:nvSpPr>
        <p:spPr>
          <a:xfrm>
            <a:off x="548640" y="311040"/>
            <a:ext cx="110937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EXERCÍCIO INTEGRADOR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2"/>
          <p:cNvSpPr/>
          <p:nvPr/>
        </p:nvSpPr>
        <p:spPr>
          <a:xfrm>
            <a:off x="548640" y="567000"/>
            <a:ext cx="11093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Aplique os quatro no seu projeto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3"/>
          <p:cNvSpPr/>
          <p:nvPr/>
        </p:nvSpPr>
        <p:spPr>
          <a:xfrm>
            <a:off x="548640" y="1417320"/>
            <a:ext cx="11093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 domínio do </a:t>
            </a:r>
            <a:r>
              <a:rPr lang="en-US" sz="1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seu projeto de grupo</a:t>
            </a:r>
            <a:r>
              <a:rPr lang="en-US" sz="18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(hotel, loja, farmácia, clínica…), desenhe um diagrama de classes que mostre os quatro pilares: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4"/>
          <p:cNvSpPr/>
          <p:nvPr/>
        </p:nvSpPr>
        <p:spPr>
          <a:xfrm>
            <a:off x="822960" y="2286000"/>
            <a:ext cx="1054512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Abstração —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uma classe abstrata (nome em itálico «abstract») que generalize dois tipos.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Encapsulamento —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atributos com visibilidade (- / #) e um invariante protegido por operação.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Herança —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pelo menos uma generalização “é um” (com triângulo vazio ──▷).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30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sz="15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Polimorfismo — </a:t>
            </a:r>
            <a:r>
              <a:rPr lang="en-US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uma operação abstrata redefinida em cada subclasse.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ounded Rectangle 5"/>
          <p:cNvSpPr/>
          <p:nvPr/>
        </p:nvSpPr>
        <p:spPr>
          <a:xfrm>
            <a:off x="548640" y="4480560"/>
            <a:ext cx="11093760" cy="822240"/>
          </a:xfrm>
          <a:prstGeom prst="roundRect">
            <a:avLst>
              <a:gd name="adj" fmla="val 16667"/>
            </a:avLst>
          </a:prstGeom>
          <a:solidFill>
            <a:srgbClr val="F4F5F7"/>
          </a:solidFill>
          <a:ln w="12700">
            <a:solidFill>
              <a:srgbClr val="C9CED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6"/>
          <p:cNvSpPr/>
          <p:nvPr/>
        </p:nvSpPr>
        <p:spPr>
          <a:xfrm>
            <a:off x="731520" y="4788720"/>
            <a:ext cx="10728000" cy="20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Entrega: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projetos-em-grupo/&lt;seu-projeto&gt;/modelagem/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  Material de apoio: </a:t>
            </a:r>
            <a:r>
              <a:rPr lang="en-US" sz="1300" b="0" u="none" strike="noStrike">
                <a:solidFill>
                  <a:srgbClr val="1A1A1A"/>
                </a:solidFill>
                <a:effectLst/>
                <a:uFillTx/>
                <a:latin typeface="Courier New"/>
              </a:rPr>
              <a:t>pilares-oo-modelagem.md</a:t>
            </a:r>
            <a:r>
              <a:rPr lang="en-US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7"/>
          <p:cNvSpPr/>
          <p:nvPr/>
        </p:nvSpPr>
        <p:spPr>
          <a:xfrm>
            <a:off x="548640" y="6446520"/>
            <a:ext cx="896040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8"/>
          <p:cNvSpPr/>
          <p:nvPr/>
        </p:nvSpPr>
        <p:spPr>
          <a:xfrm>
            <a:off x="11155680" y="6446520"/>
            <a:ext cx="54792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EXERCÍCIOS — ABSTRAÇÃO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ounded Rectangle 3"/>
          <p:cNvSpPr/>
          <p:nvPr/>
        </p:nvSpPr>
        <p:spPr>
          <a:xfrm>
            <a:off x="548640" y="1371600"/>
            <a:ext cx="11093760" cy="420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4"/>
          <p:cNvSpPr/>
          <p:nvPr/>
        </p:nvSpPr>
        <p:spPr>
          <a:xfrm>
            <a:off x="713160" y="1481400"/>
            <a:ext cx="10764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Abstração (recorte e generalização)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5"/>
          <p:cNvSpPr/>
          <p:nvPr/>
        </p:nvSpPr>
        <p:spPr>
          <a:xfrm>
            <a:off x="713160" y="1828800"/>
            <a:ext cx="10764360" cy="283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1. 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Liste 3 atributos que você INCLUIRIA e 3 que IGNORARIA ao modelar um Ouvinte na Melodia. Justifique cada escolha pelo problema (reproduzir e cobrar).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2. 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Musica, Podcast e Audiolivro compartilham “ser reproduzido”. Desenhe uma classe abstrata ConteudoDeAudio que os generalize e diga quais atributos/operações são essenciais nela.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3. 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Dê um exemplo de abstração ESPECULATIVA que você NÃO deveria criar agora na Melodia — e explique por que ela violaria o YAGNI.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  <a:spcBef>
                <a:spcPts val="850"/>
              </a:spcBef>
              <a:spcAft>
                <a:spcPts val="850"/>
              </a:spcAft>
            </a:pPr>
            <a:r>
              <a:rPr lang="en-US" sz="16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4.  </a:t>
            </a:r>
            <a:r>
              <a:rPr lang="en-US" sz="16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Aponte, no seu recorte do exercício 2, o que é “alto nível” (o que o usuário quer) e o que seria “baixo nível” (escondido pela abstração).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6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7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EXERCÍCIOS — ENCAPSULAMENTO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ounded Rectangle 3"/>
          <p:cNvSpPr/>
          <p:nvPr/>
        </p:nvSpPr>
        <p:spPr>
          <a:xfrm>
            <a:off x="548640" y="1371600"/>
            <a:ext cx="11093760" cy="420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8" name="TextBox 4"/>
          <p:cNvSpPr/>
          <p:nvPr/>
        </p:nvSpPr>
        <p:spPr>
          <a:xfrm>
            <a:off x="713160" y="1481400"/>
            <a:ext cx="10764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Encapsulamento (visibilidade e invariantes)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5"/>
          <p:cNvSpPr/>
          <p:nvPr/>
        </p:nvSpPr>
        <p:spPr>
          <a:xfrm>
            <a:off x="713160" y="1828800"/>
            <a:ext cx="10764360" cy="36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Por que reproducoes de Musica deve ser privado (-)? Que invariante isso protege e que operação é a única “porta” para mudá-lo?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classe Assinatura tem status. Escreva (em modelagem) as operações que mudam o status e diga qual regra cada uma protege (ex.: “uma assinatura cancelada não volta”).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3.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Identifique um VAZAMENTO de encapsulamento: getMusicas() de uma Playlist devolvendo a lista interna. Explique o risco e como corrigir no modelo.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4.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Reescreva a classe Musica marcando a visibilidade (- / + / #) de cada atributo e operação, e justifique uma que seja # (protegida).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Box 6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7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EXERCÍCIOS — HERANÇA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ounded Rectangle 3"/>
          <p:cNvSpPr/>
          <p:nvPr/>
        </p:nvSpPr>
        <p:spPr>
          <a:xfrm>
            <a:off x="548640" y="1371600"/>
            <a:ext cx="11093760" cy="420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Box 4"/>
          <p:cNvSpPr/>
          <p:nvPr/>
        </p:nvSpPr>
        <p:spPr>
          <a:xfrm>
            <a:off x="713160" y="1481400"/>
            <a:ext cx="10764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Herança (“é um” e substituição/LSP)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5"/>
          <p:cNvSpPr/>
          <p:nvPr/>
        </p:nvSpPr>
        <p:spPr>
          <a:xfrm>
            <a:off x="713160" y="1828800"/>
            <a:ext cx="10764360" cy="36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Diga se cada um é um “é um” válido e justifique: (a) Artista é um Usuario; (b) Playlist é uma Lista; (c) Podcast é um ConteudoDeAudio.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Desenhe a hierarquia Usuario → Ouvinte/Artista indicando quais atributos ficam na BASE (herdados) e quais ficam em cada SUBCLASSE.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3.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Aplique o teste LSP: explique por que “Playlist extends ArrayList” é problemático (o que a Playlist passaria a permitir que não deveria?).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4.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Proponha, para um caso “tem um” do seu diagrama, por que composição/agregação é melhor que herança.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6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7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Box 1"/>
          <p:cNvSpPr/>
          <p:nvPr/>
        </p:nvSpPr>
        <p:spPr>
          <a:xfrm>
            <a:off x="548640" y="311040"/>
            <a:ext cx="110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EXERCÍCIOS — POLIMORFISMO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2"/>
          <p:cNvSpPr/>
          <p:nvPr/>
        </p:nvSpPr>
        <p:spPr>
          <a:xfrm>
            <a:off x="548640" y="567000"/>
            <a:ext cx="11093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ounded Rectangle 3"/>
          <p:cNvSpPr/>
          <p:nvPr/>
        </p:nvSpPr>
        <p:spPr>
          <a:xfrm>
            <a:off x="548640" y="1371600"/>
            <a:ext cx="11093760" cy="420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6C8E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4"/>
          <p:cNvSpPr/>
          <p:nvPr/>
        </p:nvSpPr>
        <p:spPr>
          <a:xfrm>
            <a:off x="713160" y="1481400"/>
            <a:ext cx="10764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Polimorfismo (operação redefinida e OCP)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5"/>
          <p:cNvSpPr/>
          <p:nvPr/>
        </p:nvSpPr>
        <p:spPr>
          <a:xfrm>
            <a:off x="713160" y="1828800"/>
            <a:ext cx="10764360" cy="363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1.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beneficios() é redefinida em Ouvinte e Artista. Escreva o que cada implementação retornaria (uma frase por tipo).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2.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Chega um novo tipo Podcaster. Mostre, no diagrama, como ele entra — e explique por que o código que faz usuario.beneficios() NÃO precisa mudar (OCP).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3.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Reescreva mentalmente um trecho “if (tipo == OUVINTE) … else if (tipo == ARTISTA) …” como uma operação polimórfica. O que some do código do chamador?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25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4.  </a:t>
            </a:r>
            <a:r>
              <a:rPr lang="en-US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Relacione este exercício com o padrão Strategy (GoF): onde estaria a “estratégia” que varia por tipo?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6"/>
          <p:cNvSpPr/>
          <p:nvPr/>
        </p:nvSpPr>
        <p:spPr>
          <a:xfrm>
            <a:off x="548640" y="6446520"/>
            <a:ext cx="8960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da OO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7"/>
          <p:cNvSpPr/>
          <p:nvPr/>
        </p:nvSpPr>
        <p:spPr>
          <a:xfrm>
            <a:off x="11155680" y="6446520"/>
            <a:ext cx="547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8" name="TextBox 3"/>
          <p:cNvSpPr/>
          <p:nvPr/>
        </p:nvSpPr>
        <p:spPr>
          <a:xfrm>
            <a:off x="914400" y="22860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ctr">
            <a:spAutoFit/>
          </a:bodyPr>
          <a:p>
            <a:pPr algn="ctr">
              <a:lnSpc>
                <a:spcPct val="100000"/>
              </a:lnSpc>
              <a:spcAft>
                <a:spcPts val="799"/>
              </a:spcAft>
            </a:pPr>
            <a:r>
              <a:rPr lang="pt-BR" sz="14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PARTE PRÁTICA · DA MODELAGEM AO CÓDIGO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40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Os Quatro Pilares em Java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9" name="Connector 4"/>
          <p:cNvCxnSpPr/>
          <p:nvPr/>
        </p:nvCxnSpPr>
        <p:spPr>
          <a:xfrm>
            <a:off x="4206240" y="3703320"/>
            <a:ext cx="3776760" cy="360"/>
          </a:xfrm>
          <a:prstGeom prst="bentConnector2">
            <a:avLst/>
          </a:prstGeom>
          <a:ln w="17780">
            <a:solidFill>
              <a:srgbClr val="1F3A5F"/>
            </a:solidFill>
            <a:round/>
          </a:ln>
        </p:spPr>
      </p:cxnSp>
      <p:sp>
        <p:nvSpPr>
          <p:cNvPr id="460" name="TextBox 5"/>
          <p:cNvSpPr/>
          <p:nvPr/>
        </p:nvSpPr>
        <p:spPr>
          <a:xfrm>
            <a:off x="1828800" y="3886200"/>
            <a:ext cx="8530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pt-BR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Agora saímos do diagrama e escrevemos o código. Cada pilar vira uma classe Java —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com a resposta do exercício, a explicação linha a linha e as citações dos autores.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6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7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COMO LER ESTA PARTE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De cada pilar da UML ao construto do Java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7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468" name="TextBox 6"/>
          <p:cNvSpPr/>
          <p:nvPr/>
        </p:nvSpPr>
        <p:spPr>
          <a:xfrm>
            <a:off x="548640" y="141732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sz="150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mesmo conceito que você desenhou no diagrama tem um construto correspondente na linguagem. A tabela abaixo é o mapa desta parte: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9" name="Table 7"/>
          <p:cNvGraphicFramePr/>
          <p:nvPr/>
        </p:nvGraphicFramePr>
        <p:xfrm>
          <a:off x="548640" y="2148840"/>
          <a:ext cx="11063880" cy="27432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389120"/>
              </a:tblGrid>
              <a:tr h="548640">
                <a:tc>
                  <a:txBody>
                    <a:bodyPr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Pilar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Na UML (modelagem)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No Java (código)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Abstração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classe/operação em «abstract»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abstract class, método abstract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Encapsulamento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visibilidade  -  nos atributos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private + validação, sem setter cego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  <a:tr h="548640"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Herança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triângulo vazio  ──▷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extends, super(...), @Override, protected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1" u="none" strike="noStrike">
                          <a:solidFill>
                            <a:srgbClr val="1F3A5F"/>
                          </a:solidFill>
                          <a:effectLst/>
                          <a:uFillTx/>
                          <a:latin typeface="Calibri"/>
                        </a:rPr>
                        <a:t>Polimorfismo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operação redefinida por subtipo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 lIns="10152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pt-BR" sz="125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</a:rPr>
                        <a:t>ligação dinâmica (mesma chamada, tipos diferentes)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91440" marT="37800" marB="378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470" name="Rounded Rectangle 8"/>
          <p:cNvSpPr/>
          <p:nvPr/>
        </p:nvSpPr>
        <p:spPr>
          <a:xfrm>
            <a:off x="548640" y="5120640"/>
            <a:ext cx="11063880" cy="86832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9"/>
          <p:cNvSpPr/>
          <p:nvPr/>
        </p:nvSpPr>
        <p:spPr>
          <a:xfrm>
            <a:off x="694800" y="5212080"/>
            <a:ext cx="10789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▶ Para rodar: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cada pasta em exemplos-java-pilares/ é independente — entre nela e rode  javac *.java &amp;&amp; java Demo…  (testado em Java 17). O código completo e comentado está nos arquivos; os slides mostram o essencial.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10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1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6" name="TextBox 3"/>
          <p:cNvSpPr/>
          <p:nvPr/>
        </p:nvSpPr>
        <p:spPr>
          <a:xfrm>
            <a:off x="548640" y="301680"/>
            <a:ext cx="11063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O DOMÍNIO EM UM DIAGRAMA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4"/>
          <p:cNvSpPr/>
          <p:nvPr/>
        </p:nvSpPr>
        <p:spPr>
          <a:xfrm>
            <a:off x="548640" y="576000"/>
            <a:ext cx="110638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5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Vamos aprender os pilares neste diagrama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8" name="Connector 5"/>
          <p:cNvCxnSpPr/>
          <p:nvPr/>
        </p:nvCxnSpPr>
        <p:spPr>
          <a:xfrm>
            <a:off x="566640" y="122508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pic>
        <p:nvPicPr>
          <p:cNvPr id="479" name="Picture 6" descr="diag_full.png"/>
          <p:cNvPicPr/>
          <p:nvPr/>
        </p:nvPicPr>
        <p:blipFill>
          <a:blip r:embed="rId1"/>
          <a:stretch/>
        </p:blipFill>
        <p:spPr>
          <a:xfrm>
            <a:off x="562320" y="1417320"/>
            <a:ext cx="11063880" cy="29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Rounded Rectangle 7"/>
          <p:cNvSpPr/>
          <p:nvPr/>
        </p:nvSpPr>
        <p:spPr>
          <a:xfrm>
            <a:off x="548640" y="4590360"/>
            <a:ext cx="11063880" cy="148104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TextBox 8"/>
          <p:cNvSpPr/>
          <p:nvPr/>
        </p:nvSpPr>
        <p:spPr>
          <a:xfrm>
            <a:off x="777240" y="4700160"/>
            <a:ext cx="10606680" cy="10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Como vamos usar este mapa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Este é o modelo do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streaming Melodia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usuários, conteúdos de áudio e playlists.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Nos próximos slides,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cada pilar “acende” uma parte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deste mesmo diagrama — o resto fica esmaecido.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 fim, você lê o diagrama inteiro e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enxerga os quatro pilares de uma vez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Box 9"/>
          <p:cNvSpPr/>
          <p:nvPr/>
        </p:nvSpPr>
        <p:spPr>
          <a:xfrm>
            <a:off x="777240" y="6089760"/>
            <a:ext cx="10606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Diagrama de classes (UML) do Melodia, gerado em Mermaid.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10"/>
          <p:cNvSpPr/>
          <p:nvPr/>
        </p:nvSpPr>
        <p:spPr>
          <a:xfrm>
            <a:off x="548640" y="6419160"/>
            <a:ext cx="96008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o diagrama do Melodia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11"/>
          <p:cNvSpPr/>
          <p:nvPr/>
        </p:nvSpPr>
        <p:spPr>
          <a:xfrm>
            <a:off x="11155680" y="6446520"/>
            <a:ext cx="5482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3"/>
          <p:cNvSpPr/>
          <p:nvPr/>
        </p:nvSpPr>
        <p:spPr>
          <a:xfrm>
            <a:off x="548640" y="301680"/>
            <a:ext cx="11063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1 NO MAPA — ABSTRAÇÃO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4"/>
          <p:cNvSpPr/>
          <p:nvPr/>
        </p:nvSpPr>
        <p:spPr>
          <a:xfrm>
            <a:off x="548640" y="576000"/>
            <a:ext cx="110638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5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As classes abstratas: o genérico que organiza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89" name="Connector 5"/>
          <p:cNvCxnSpPr/>
          <p:nvPr/>
        </p:nvCxnSpPr>
        <p:spPr>
          <a:xfrm>
            <a:off x="566640" y="122508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pic>
        <p:nvPicPr>
          <p:cNvPr id="490" name="Picture 6" descr="diag_abs.png"/>
          <p:cNvPicPr/>
          <p:nvPr/>
        </p:nvPicPr>
        <p:blipFill>
          <a:blip r:embed="rId1"/>
          <a:stretch/>
        </p:blipFill>
        <p:spPr>
          <a:xfrm>
            <a:off x="562320" y="1417320"/>
            <a:ext cx="11063880" cy="29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Rounded Rectangle 7"/>
          <p:cNvSpPr/>
          <p:nvPr/>
        </p:nvSpPr>
        <p:spPr>
          <a:xfrm>
            <a:off x="548640" y="4590360"/>
            <a:ext cx="11063880" cy="148104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8"/>
          <p:cNvSpPr/>
          <p:nvPr/>
        </p:nvSpPr>
        <p:spPr>
          <a:xfrm>
            <a:off x="777240" y="4700160"/>
            <a:ext cx="10606680" cy="10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está aceso: Usuario e ConteudoDeAudio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São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classes abstratas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(«abstract», em itálico): guardam só o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essencial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não se instanciam.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Usuario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generaliza Ouvinte/Artista;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ConteudoDeAudio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generaliza Musica/Podcast.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Abstrair é decidir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entra no diagrama e o que fica de fora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9"/>
          <p:cNvSpPr/>
          <p:nvPr/>
        </p:nvSpPr>
        <p:spPr>
          <a:xfrm>
            <a:off x="777240" y="6089760"/>
            <a:ext cx="10606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“Uma abstração destaca as características essenciais e ignora o irrelevante.” — Booch (1994).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10"/>
          <p:cNvSpPr/>
          <p:nvPr/>
        </p:nvSpPr>
        <p:spPr>
          <a:xfrm>
            <a:off x="548640" y="6419160"/>
            <a:ext cx="96008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o diagrama do Melodia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11"/>
          <p:cNvSpPr/>
          <p:nvPr/>
        </p:nvSpPr>
        <p:spPr>
          <a:xfrm>
            <a:off x="11155680" y="6446520"/>
            <a:ext cx="5482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3"/>
          <p:cNvSpPr/>
          <p:nvPr/>
        </p:nvSpPr>
        <p:spPr>
          <a:xfrm>
            <a:off x="548640" y="301680"/>
            <a:ext cx="11063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2 NO MAPA — ENCAPSULAMENTO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4"/>
          <p:cNvSpPr/>
          <p:nvPr/>
        </p:nvSpPr>
        <p:spPr>
          <a:xfrm>
            <a:off x="548640" y="576000"/>
            <a:ext cx="110638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5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estado protegido dentro da classe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0" name="Connector 5"/>
          <p:cNvCxnSpPr/>
          <p:nvPr/>
        </p:nvCxnSpPr>
        <p:spPr>
          <a:xfrm>
            <a:off x="566640" y="122508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pic>
        <p:nvPicPr>
          <p:cNvPr id="501" name="Picture 6" descr="diag_enc.png"/>
          <p:cNvPicPr/>
          <p:nvPr/>
        </p:nvPicPr>
        <p:blipFill>
          <a:blip r:embed="rId1"/>
          <a:stretch/>
        </p:blipFill>
        <p:spPr>
          <a:xfrm>
            <a:off x="562320" y="1417320"/>
            <a:ext cx="11063880" cy="29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Rounded Rectangle 7"/>
          <p:cNvSpPr/>
          <p:nvPr/>
        </p:nvSpPr>
        <p:spPr>
          <a:xfrm>
            <a:off x="548640" y="4590360"/>
            <a:ext cx="11063880" cy="148104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8"/>
          <p:cNvSpPr/>
          <p:nvPr/>
        </p:nvSpPr>
        <p:spPr>
          <a:xfrm>
            <a:off x="777240" y="4700160"/>
            <a:ext cx="10606680" cy="10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está aceso: Musica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atributo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- reproducoes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é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privado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ninguém altera de fora.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Ele só muda pela operação pública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+ registrarReproducao()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, que preserva o invariante.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Regra de leitura do diagrama: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- privado, + público, # protegido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9"/>
          <p:cNvSpPr/>
          <p:nvPr/>
        </p:nvSpPr>
        <p:spPr>
          <a:xfrm>
            <a:off x="777240" y="6089760"/>
            <a:ext cx="10606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“Cada módulo esconde uma decisão de projeto.” — Parnas (1972); invariantes em Meyer (1997).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10"/>
          <p:cNvSpPr/>
          <p:nvPr/>
        </p:nvSpPr>
        <p:spPr>
          <a:xfrm>
            <a:off x="548640" y="6419160"/>
            <a:ext cx="96008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o diagrama do Melodia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Box 11"/>
          <p:cNvSpPr/>
          <p:nvPr/>
        </p:nvSpPr>
        <p:spPr>
          <a:xfrm>
            <a:off x="11155680" y="6446520"/>
            <a:ext cx="5482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3"/>
          <p:cNvSpPr/>
          <p:nvPr/>
        </p:nvSpPr>
        <p:spPr>
          <a:xfrm>
            <a:off x="548640" y="301680"/>
            <a:ext cx="11063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3 NO MAPA — HERANÇA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Box 4"/>
          <p:cNvSpPr/>
          <p:nvPr/>
        </p:nvSpPr>
        <p:spPr>
          <a:xfrm>
            <a:off x="548640" y="576000"/>
            <a:ext cx="110638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5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 triângulo vazio: “é um”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1" name="Connector 5"/>
          <p:cNvCxnSpPr/>
          <p:nvPr/>
        </p:nvCxnSpPr>
        <p:spPr>
          <a:xfrm>
            <a:off x="566640" y="122508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pic>
        <p:nvPicPr>
          <p:cNvPr id="512" name="Picture 6" descr="diag_her.png"/>
          <p:cNvPicPr/>
          <p:nvPr/>
        </p:nvPicPr>
        <p:blipFill>
          <a:blip r:embed="rId1"/>
          <a:stretch/>
        </p:blipFill>
        <p:spPr>
          <a:xfrm>
            <a:off x="562320" y="1417320"/>
            <a:ext cx="11063880" cy="29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Rounded Rectangle 7"/>
          <p:cNvSpPr/>
          <p:nvPr/>
        </p:nvSpPr>
        <p:spPr>
          <a:xfrm>
            <a:off x="548640" y="4590360"/>
            <a:ext cx="11063880" cy="148104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TextBox 8"/>
          <p:cNvSpPr/>
          <p:nvPr/>
        </p:nvSpPr>
        <p:spPr>
          <a:xfrm>
            <a:off x="777240" y="4700160"/>
            <a:ext cx="10606680" cy="10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está aceso: Ouvinte, Artista, Musica, Podcast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Cada linha com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triângulo vazio ──▷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liga a subclasse à superclasse (generalização).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Vale o teste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“é um”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Ouvinte é um Usuario; Musica é um ConteudoDeAudio.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subclasse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herda o comum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 acrescenta só o que é seu — sem duplicar código.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9"/>
          <p:cNvSpPr/>
          <p:nvPr/>
        </p:nvSpPr>
        <p:spPr>
          <a:xfrm>
            <a:off x="777240" y="6089760"/>
            <a:ext cx="10606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“A subclasse especializa a superclasse.” — Booch (1994); substituição segura: LSP (Liskov, 1994).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10"/>
          <p:cNvSpPr/>
          <p:nvPr/>
        </p:nvSpPr>
        <p:spPr>
          <a:xfrm>
            <a:off x="548640" y="6419160"/>
            <a:ext cx="96008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o diagrama do Melodia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11"/>
          <p:cNvSpPr/>
          <p:nvPr/>
        </p:nvSpPr>
        <p:spPr>
          <a:xfrm>
            <a:off x="11155680" y="6446520"/>
            <a:ext cx="5482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0" name="TextBox 3"/>
          <p:cNvSpPr/>
          <p:nvPr/>
        </p:nvSpPr>
        <p:spPr>
          <a:xfrm>
            <a:off x="548640" y="301680"/>
            <a:ext cx="11063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PILAR 4 NO MAPA — POLIMORFISMO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4"/>
          <p:cNvSpPr/>
          <p:nvPr/>
        </p:nvSpPr>
        <p:spPr>
          <a:xfrm>
            <a:off x="548640" y="576000"/>
            <a:ext cx="110638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5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A mesma operação, redefinida por tipo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2" name="Connector 5"/>
          <p:cNvCxnSpPr/>
          <p:nvPr/>
        </p:nvCxnSpPr>
        <p:spPr>
          <a:xfrm>
            <a:off x="566640" y="122508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pic>
        <p:nvPicPr>
          <p:cNvPr id="523" name="Picture 6" descr="diag_pol.png"/>
          <p:cNvPicPr/>
          <p:nvPr/>
        </p:nvPicPr>
        <p:blipFill>
          <a:blip r:embed="rId1"/>
          <a:stretch/>
        </p:blipFill>
        <p:spPr>
          <a:xfrm>
            <a:off x="562320" y="1417320"/>
            <a:ext cx="11063880" cy="29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4" name="Rounded Rectangle 7"/>
          <p:cNvSpPr/>
          <p:nvPr/>
        </p:nvSpPr>
        <p:spPr>
          <a:xfrm>
            <a:off x="548640" y="4590360"/>
            <a:ext cx="11063880" cy="148104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TextBox 8"/>
          <p:cNvSpPr/>
          <p:nvPr/>
        </p:nvSpPr>
        <p:spPr>
          <a:xfrm>
            <a:off x="777240" y="4700160"/>
            <a:ext cx="10606680" cy="10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está aceso: Usuario, Ouvinte, Artista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operação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+ beneficios()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é abstrata em Usuario (o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*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) e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redefinida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em cada subtipo.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mesma chamada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usuario.beneficios()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responde diferente conforme o objeto real (ligação dinâmica).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Um tipo novo (ex.: Podcaster)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só implementa a operação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— o código que a chama não muda (OCP).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9"/>
          <p:cNvSpPr/>
          <p:nvPr/>
        </p:nvSpPr>
        <p:spPr>
          <a:xfrm>
            <a:off x="777240" y="6089760"/>
            <a:ext cx="10606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“Uma mesma operação sobre tipos diferentes.” — Cardelli &amp; Wegner (1985); OCP: R. C. Martin.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Box 10"/>
          <p:cNvSpPr/>
          <p:nvPr/>
        </p:nvSpPr>
        <p:spPr>
          <a:xfrm>
            <a:off x="548640" y="6419160"/>
            <a:ext cx="96008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o diagrama do Melodia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11"/>
          <p:cNvSpPr/>
          <p:nvPr/>
        </p:nvSpPr>
        <p:spPr>
          <a:xfrm>
            <a:off x="11155680" y="6446520"/>
            <a:ext cx="5482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1" name="TextBox 3"/>
          <p:cNvSpPr/>
          <p:nvPr/>
        </p:nvSpPr>
        <p:spPr>
          <a:xfrm>
            <a:off x="548640" y="301680"/>
            <a:ext cx="110638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LENDO O DIAGRAMA INTEIRO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Box 4"/>
          <p:cNvSpPr/>
          <p:nvPr/>
        </p:nvSpPr>
        <p:spPr>
          <a:xfrm>
            <a:off x="548640" y="576000"/>
            <a:ext cx="11063880" cy="43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5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Os quatro pilares de uma vez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3" name="Connector 5"/>
          <p:cNvCxnSpPr/>
          <p:nvPr/>
        </p:nvCxnSpPr>
        <p:spPr>
          <a:xfrm>
            <a:off x="566640" y="122508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pic>
        <p:nvPicPr>
          <p:cNvPr id="534" name="Picture 6" descr="diag_full.png"/>
          <p:cNvPicPr/>
          <p:nvPr/>
        </p:nvPicPr>
        <p:blipFill>
          <a:blip r:embed="rId1"/>
          <a:stretch/>
        </p:blipFill>
        <p:spPr>
          <a:xfrm>
            <a:off x="562320" y="1417320"/>
            <a:ext cx="11063880" cy="294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Rounded Rectangle 7"/>
          <p:cNvSpPr/>
          <p:nvPr/>
        </p:nvSpPr>
        <p:spPr>
          <a:xfrm>
            <a:off x="548640" y="4590360"/>
            <a:ext cx="11063880" cy="148104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TextBox 8"/>
          <p:cNvSpPr/>
          <p:nvPr/>
        </p:nvSpPr>
        <p:spPr>
          <a:xfrm>
            <a:off x="777240" y="4700160"/>
            <a:ext cx="10606680" cy="13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Onde cada pilar aparece neste mesmo diagrama: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Abstração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→  classes «abstract» (Usuario, ConteudoDeAudio), em itálico.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Encapsulamento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→  visibilidade nos membros: -  privado, +  público, #  protegido.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Herança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→  linhas com triângulo vazio ──▷ para a superclasse.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sz="13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3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Polimorfismo</a:t>
            </a:r>
            <a:r>
              <a:rPr lang="pt-BR" sz="13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 →  a operação abstrata (*) redefinida em cada subclasse.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9"/>
          <p:cNvSpPr/>
          <p:nvPr/>
        </p:nvSpPr>
        <p:spPr>
          <a:xfrm>
            <a:off x="548640" y="6419160"/>
            <a:ext cx="960084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o diagrama do Melodia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10"/>
          <p:cNvSpPr/>
          <p:nvPr/>
        </p:nvSpPr>
        <p:spPr>
          <a:xfrm>
            <a:off x="11155680" y="6446520"/>
            <a:ext cx="5482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1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1 — ABSTRAÇÃO (1/2)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A classe abstrata: o essencial que todos compartilham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3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544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6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abstract class ConteudoDeAudio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    // estado ESSENCIAL, comum a todo áudio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protected final String titulo;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protected final int duracaoSegundos;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protected ConteudoDeAudio(String t, int seg)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        // protege o invariante já na entrada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if (t == null || t.isBlank())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    throw new IllegalArgumentException("título");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this.titulo = t;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this.duracaoSegundos = seg;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    // contrato: cada tipo se descreve à sua maneira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abstract String descricaoCurta();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o código diz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abstract class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= não se instancia; é o tipo genérico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«abstract»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do diagrama.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essencial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(título, duração) mora aqui — é o “recorte” de Booch.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Método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abstract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obriga cada subtipo a concretizar; o compilador cobra.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“Uma abstração destaca as características essenciais e ignora o irrelevante.” — Booch, Object-Oriented Analysis and Design (1994).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3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1 — ABSTRAÇÃO (2/2)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Usando a abstração sem saber o tipo concreto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5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556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class Musica extends ConteudoDeAudio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private final String artista;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Musica(String t, int s, String a){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super(t, s);        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reusa a validação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this.artista = a;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@Override public String descricaoCurta(){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return "Música de " + artista;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... Podcast e Audiolivro seguem o mesmo molde ...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List&lt;ConteudoDeAudio&gt; acervo = List.of(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new Musica("Garota de Ipanema", 200, "Jobim"),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new Podcast("Ep. da Melodia", 1620, 12));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for (ConteudoDeAudio c : acervo)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trata o GENÉRICO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System.out.println(c.fichaTecnica());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Por que isto importa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lista é de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ConteudoDeAudio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o código trata o tipo genérico, não cada concreto.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Adicionar Audiolivro não muda o laço — só encaixa no contrato.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Limite da abstração: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numeroDoEpisodio só existe no Podcast; não sobe para a base.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Saída: [Música de Jobim] Garota de Ipanema (03:20) · [Podcast · ep. 12] …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5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2 — ENCAPSULAMENTO (1/2)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Estado privado, mudado só por uma operação que valida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7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568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class Musica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private final String titulo;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private final int duracaoSegundos;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private int reproducoes;    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alimenta royalties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Musica(String t, int seg)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if (seg &lt;= 0)           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fail fast (Meyer)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    throw new IllegalArgumentException("duração");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this.titulo = t;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this.duracaoSegundos = seg;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this.reproducoes = 0;   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nasce coerente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    // ÚNICA porta para mudar o estado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void registrarReproducao() { reproducoes++;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int  getReproducoes()      { return reproducoes;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    // repare: NÃO existe setReproducoes(int)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o código diz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private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= o campo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reproducoes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não é alcançável de fora. É 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-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da UML.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Invariante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: reproducoes ≥ 0 e duração &gt; 0 — sempre verdadeiro.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Sem setter cego: mudar o estado exige passar pela validação.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“Cada módulo esconde uma decisão de projeto.” — Parnas (1972); invariantes em Meyer (1997).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2 — ENCAPSULAMENTO (2/2)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A fraude que sequer compila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9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580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1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Musica m = new Musica("Aquarela", 235);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m.registrarReproducao();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m.registrarReproducao();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System.out.println(m.getReproducoes());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-&gt; 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-------- tentativa de adulterar o ranking --------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m.reproducoes = 1_000_000;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  ^ ERRO DE COMPILAÇÃO: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    reproducoes has private access in Musica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-------- objeto inválido: barrado na entrada -----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try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new Musica("Faixa quebrada", -5);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 catch (IllegalArgumentException e)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System.out.println("Rejeitado: " + e.getMessage());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Por que isto importa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proteção é do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compilador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, não da boa vontade de quem usa a classe.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O erro de uma pessoa deixa de virar incidente de todos.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Fuja da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classe anêmica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(só dados, sem regras) — crítica de Fowler.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Encapsulamento não é purismo: é tornar o estado inválido impossível.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3 — HERANÇA (1/2)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Superclasse abstrata: escrever o comum uma única vez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1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592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3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abstract class Usuario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protected final String nome;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comum a todos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protected final String email;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protected Usuario(String nome, String email){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this.nome = nome; this.email = email;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String getNome(){ return nome;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abstract String tipoDePerfil();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class Ouvinte extends Usuario {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Ouvinte É-UM Usuario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private String plano;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Ouvinte(String n, String e, String p){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super(n, e);            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herda nome/email + validação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this.plano = p;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@Override public String tipoDePerfil(){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return "Ouvinte (" + plano + ")";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o código diz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extends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= o triângulo vazio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──▷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 Autorizado pelo teste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“é-um”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super(...)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reaproveita o construtor da base; nome/email não se repetem.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@Override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concretiza o contrato herdado (Artista faz o mesmo).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“A subclasse especializa a superclasse.” — Booch (1994). Substituição segura: LSP (Liskov, 1994).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1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3 — HERANÇA (2/2)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Consertar num lugar só — e o cuidado do “é-um”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3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604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Usuario u1 = new Ouvinte("Ana", "ana@melodia.com", "Premium");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Usuario u2 = new Artista("João", "joao@melodia.com", "JL Beats");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System.out.println(u1.tipoDePerfil());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Ouvinte (Premium)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System.out.println(u2.tipoDePerfil());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Artista: JL Beats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LSP: onde se espera Usuario, qualquer subtipo entra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static void exibirCartao(Usuario usuario)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System.out.println(usuario.getNome()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+ " &lt;" + usuario.getEmail() + "&gt;");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exibirCartao(u1);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funciona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exibirCartao(u2);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funciona igual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Por que isto importa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validação de e-mail vive em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um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lugar (Usuario). Corrigiu lá, os dois subtipos herdam.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exibirCartao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só conhece Usuario — aceita qualquer subtipo (LSP).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Cuidado: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só herde no “é-um” real. Para “tem-um”, prefira composição (Bloch).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“Favoreça composição em vez de herança.” — Bloch, Effective Java.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3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4 — POLIMORFISMO (1/2)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A mesma mensagem, comportamentos diferentes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5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616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8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abstract class Usuario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public abstract String beneficios();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1 contrato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class Ouvinte extends Usuario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@Override public String beneficios(){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return "streaming ilimitado e playlists";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class Artista extends Usuario 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@Override public String beneficios(){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return "publicar álbuns e receber royalties";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for (Usuario u : usuarios)       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mesma linha...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System.out.println(u.beneficios());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...respostas diferentes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 que o código diz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Um contrato (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beneficios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), várias implementações — uma por subtipo.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 JVM decide em execução qual método chamar: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ligação dinâmica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•  Quem chama não sabe (nem precisa saber) o tipo concreto.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“Uma mesma operação sobre tipos diferentes.” — Cardelli &amp; Wegner (1985).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5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PRÁTICA · PILAR 4 — POLIMORFISMO (2/2)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Tipo novo sem tocar no que já existe (OCP)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7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628" name="Rounded Rectangle 6"/>
          <p:cNvSpPr/>
          <p:nvPr/>
        </p:nvSpPr>
        <p:spPr>
          <a:xfrm>
            <a:off x="548640" y="1463040"/>
            <a:ext cx="6537600" cy="461736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Rectangle 7"/>
          <p:cNvSpPr/>
          <p:nvPr/>
        </p:nvSpPr>
        <p:spPr>
          <a:xfrm>
            <a:off x="548640" y="1463040"/>
            <a:ext cx="54360" cy="46173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0" name="TextBox 8"/>
          <p:cNvSpPr/>
          <p:nvPr/>
        </p:nvSpPr>
        <p:spPr>
          <a:xfrm>
            <a:off x="713160" y="1554480"/>
            <a:ext cx="6281640" cy="44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public class Podcaster extends Usuario {  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tipo NOVO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@Override public String beneficios(){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    return "publicar episódios e ver audiência";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}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✔ jeito polimórfico: NÃO muda quando entra um tipo novo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for (Usuario u : usuarios)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   System.out.println(u.beneficios());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 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(X) jeito com IF DE TIPO (anti-exemplo, frágil)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if (u instanceof Ouvinte)      b = "...";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else if (u instanceof Artista) b = "...";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05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else  b = "??? (esqueceram deste tipo)"; </a:t>
            </a:r>
            <a:r>
              <a:rPr lang="pt-BR" sz="1050" b="0" i="1" u="none" strike="noStrike">
                <a:solidFill>
                  <a:srgbClr val="5B6570"/>
                </a:solidFill>
                <a:effectLst/>
                <a:uFillTx/>
                <a:latin typeface="Consolas"/>
              </a:rPr>
              <a:t>// bug!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9"/>
          <p:cNvSpPr/>
          <p:nvPr/>
        </p:nvSpPr>
        <p:spPr>
          <a:xfrm>
            <a:off x="7315200" y="1481400"/>
            <a:ext cx="4373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Por que isto importa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Adicionar Podcaster =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escrever uma classe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; o laço polimórfico não muda.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Aberto para extensão, fechado para modificação —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OCP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(R. C. Martin).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O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if de tipo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 esquece o tipo novo — a “cascata de ifs” que o polimorfismo elimina.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Box 10"/>
          <p:cNvSpPr/>
          <p:nvPr/>
        </p:nvSpPr>
        <p:spPr>
          <a:xfrm>
            <a:off x="7315200" y="5532120"/>
            <a:ext cx="4373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10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Saída polimórfica trata os 3 tipos; o if-de-tipo erra o Podcaster.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11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12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7" name="TextBox 3"/>
          <p:cNvSpPr/>
          <p:nvPr/>
        </p:nvSpPr>
        <p:spPr>
          <a:xfrm>
            <a:off x="548640" y="30168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MÃOS À OBRA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4"/>
          <p:cNvSpPr/>
          <p:nvPr/>
        </p:nvSpPr>
        <p:spPr>
          <a:xfrm>
            <a:off x="548640" y="57600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2600" b="1" u="none" strike="noStrike">
                <a:solidFill>
                  <a:srgbClr val="1F3A5F"/>
                </a:solidFill>
                <a:effectLst/>
                <a:uFillTx/>
                <a:latin typeface="Cambria"/>
              </a:rPr>
              <a:t>Os arquivos, como rodar e o próximo exercício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9" name="Connector 5"/>
          <p:cNvCxnSpPr/>
          <p:nvPr/>
        </p:nvCxnSpPr>
        <p:spPr>
          <a:xfrm>
            <a:off x="566640" y="1243440"/>
            <a:ext cx="11064600" cy="360"/>
          </a:xfrm>
          <a:prstGeom prst="bentConnector2">
            <a:avLst/>
          </a:prstGeom>
          <a:ln w="16510">
            <a:solidFill>
              <a:srgbClr val="1F3A5F"/>
            </a:solidFill>
            <a:round/>
          </a:ln>
        </p:spPr>
      </p:cxnSp>
      <p:sp>
        <p:nvSpPr>
          <p:cNvPr id="640" name="TextBox 6"/>
          <p:cNvSpPr/>
          <p:nvPr/>
        </p:nvSpPr>
        <p:spPr>
          <a:xfrm>
            <a:off x="548640" y="1463040"/>
            <a:ext cx="557748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Arquivos Java (para comparar em sala)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sz="120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•  exemplos-java-pilares/01-abstracao/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sz="120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•  exemplos-java-pilares/02-encapsulamento/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sz="120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•  exemplos-java-pilares/03-heranca/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lang="pt-BR" sz="120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•  exemplos-java-pilares/04-polimorfismo/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lang="pt-BR" sz="1250" b="0" i="1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Cada pasta é independente e tem um Demo com main.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Rodar (Java 17+):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Rounded Rectangle 7"/>
          <p:cNvSpPr/>
          <p:nvPr/>
        </p:nvSpPr>
        <p:spPr>
          <a:xfrm>
            <a:off x="548640" y="3977640"/>
            <a:ext cx="5577480" cy="91404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2" name="Rectangle 8"/>
          <p:cNvSpPr/>
          <p:nvPr/>
        </p:nvSpPr>
        <p:spPr>
          <a:xfrm>
            <a:off x="548640" y="3977640"/>
            <a:ext cx="54360" cy="9140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9"/>
          <p:cNvSpPr/>
          <p:nvPr/>
        </p:nvSpPr>
        <p:spPr>
          <a:xfrm>
            <a:off x="713160" y="4069080"/>
            <a:ext cx="5321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cd 01-abstracao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javac *.java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A1A1A"/>
                </a:solidFill>
                <a:effectLst/>
                <a:uFillTx/>
                <a:latin typeface="Consolas"/>
              </a:rPr>
              <a:t>java DemoAbstracao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ounded Rectangle 10"/>
          <p:cNvSpPr/>
          <p:nvPr/>
        </p:nvSpPr>
        <p:spPr>
          <a:xfrm>
            <a:off x="6355080" y="1463040"/>
            <a:ext cx="5257440" cy="434304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TextBox 11"/>
          <p:cNvSpPr/>
          <p:nvPr/>
        </p:nvSpPr>
        <p:spPr>
          <a:xfrm>
            <a:off x="6537960" y="1600200"/>
            <a:ext cx="49374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4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✍️  Exercício para fazer À MÃO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Um diagrama de classes NOVO, no mesmo espírito, agora com o domínio das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Notificações da Melodia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Abstração/Herança: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Notificacao abstrata → Push / Email / SMS.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Encapsulamento: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proteger o estado “enviada” (não enviar 2x).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pt-BR" sz="1250" b="0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•  </a:t>
            </a:r>
            <a:r>
              <a:rPr lang="pt-BR" sz="125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Polimorfismo: </a:t>
            </a: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enviar() por tipo + um tipo novo (InApp) sem mudar o resto.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pt-BR" sz="1250" b="0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Enunciado e diagrama de partida: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200" b="0" u="none" strike="noStrike">
                <a:solidFill>
                  <a:srgbClr val="1F3A5F"/>
                </a:solidFill>
                <a:effectLst/>
                <a:uFillTx/>
                <a:latin typeface="Consolas"/>
              </a:rPr>
              <a:t>exercicio-pilares-a-mao.drawio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12"/>
          <p:cNvSpPr/>
          <p:nvPr/>
        </p:nvSpPr>
        <p:spPr>
          <a:xfrm>
            <a:off x="548640" y="6419160"/>
            <a:ext cx="9600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Análise e Projeto de Sistemas OO  ·  Os Quatro Pilares — Prática em Java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13"/>
          <p:cNvSpPr/>
          <p:nvPr/>
        </p:nvSpPr>
        <p:spPr>
          <a:xfrm>
            <a:off x="10881360" y="64191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25560" rIns="50760" bIns="25560" anchor="t">
            <a:spAutoFit/>
          </a:bodyPr>
          <a:p>
            <a:pPr algn="r">
              <a:lnSpc>
                <a:spcPct val="100000"/>
              </a:lnSpc>
            </a:pPr>
            <a:r>
              <a:rPr lang="pt-BR" sz="950" b="0" u="none" strike="noStrike">
                <a:solidFill>
                  <a:srgbClr val="5B6570"/>
                </a:solidFill>
                <a:effectLst/>
                <a:uFillTx/>
                <a:latin typeface="Calibri"/>
              </a:rPr>
              <a:t>49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Application>LibreOffice/26.2.4.2$MacOSX_X86_64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cp:lastPrinted>2026-09-10T19:15:47Z</cp:lastPrinted>
  <dcterms:modified xsi:type="dcterms:W3CDTF">2026-09-11T21:16:58Z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