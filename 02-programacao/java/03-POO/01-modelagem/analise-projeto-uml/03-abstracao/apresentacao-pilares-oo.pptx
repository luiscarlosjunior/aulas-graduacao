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Table Grid">
    <a:wholeTbl>
      <a:tcTxStyle>
        <a:fontRef idx="minor"/>
        <a:schemeClr val="tx1"/>
      </a:tcTxStyle>
      <a:tcStyle>
        <a:tcBdr>
          <a:left>
            <a:ln w="12700" cap="flat" cmpd="sng" algn="ctr">
              <a:solidFill>
                <a:schemeClr val="tx1"/>
              </a:solidFill>
              <a:prstDash val="solid"/>
            </a:ln>
          </a:left>
          <a:right>
            <a:ln w="12700" cap="flat" cmpd="sng" algn="ctr">
              <a:solidFill>
                <a:schemeClr val="tx1"/>
              </a:solidFill>
              <a:prstDash val="solid"/>
            </a:ln>
          </a:right>
          <a:top>
            <a:ln w="12700" cap="flat" cmpd="sng" algn="ctr">
              <a:solidFill>
                <a:schemeClr val="tx1"/>
              </a:solidFill>
              <a:prstDash val="solid"/>
            </a:ln>
          </a:top>
          <a:bottom>
            <a:ln w="12700" cap="flat" cmpd="sng" algn="ctr">
              <a:solidFill>
                <a:schemeClr val="tx1"/>
              </a:solidFill>
              <a:prstDash val="solid"/>
            </a:ln>
          </a:bottom>
          <a:insideH>
            <a:ln w="12700" cap="flat" cmpd="sng" algn="ctr">
              <a:solidFill>
                <a:schemeClr val="tx1"/>
              </a:solidFill>
              <a:prstDash val="solid"/>
            </a:ln>
          </a:insideH>
          <a:insideV>
            <a:ln w="12700" cap="flat" cmpd="sng" algn="ctr">
              <a:solidFill>
                <a:schemeClr val="tx1"/>
              </a:solidFill>
              <a:prstDash val="solid"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ampliada dos 4 pilares em nível de MODELAGEM, com autores/obras e exemplos do Melodia. Ao final, exercícios por tópico.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Mapa. A coluna 'Notação UML' é como o pilar aparece no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acadêmica. Cada pilar volta a citar o autor específico. Booch e Meyer são as referências centrais; Liskov e Martin sustentam herança/polimorfismo.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Def. de Booch (citação literal). Dois sentidos: recorte e generalização. Larman: responsabilidades.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Recorte: do caos ao essencial. Reforce que 'essencial' depende do problema — mesma pessoa, recortes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Generalização: Usuario abstrai o comum. Nome em itálico + «abstract». Prepara herança/polimorfismo.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Mais exemplos de abstração: ConteudoDeAudio generaliza Musica/Podcast/Audiolivro. Níveis de abstração (Liskov &amp; Guttag).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Extremos que falham. Cite a máxima de Sandi Metz: 'duplication is far cheaper than the wrong abstraction'.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Def. de Parnas (1972). Duas faces: ocultar e proteger. Meyer: contrato (pré/pós/invariante).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Visibilidade é a marca do encapsulamento no diagrama. Comece restrito.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Invariante concreto. Não há setReproducoes. Bloch: minimize mutability.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Mais exemplos: máquina de estados protegida (Assinatura) e vazamento de coleção. Fowler: anti-padrão anêmico.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Antes/depois. Dado público = bug esperando acontecer.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Def. Booch + teste 'é um'. Herança é o acoplamento mais forte; Rumbaugh: generalização/especialização.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Notação: triângulo vazio no lado da superclasse. Atributos protegidos (#) são herdados.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 da herança: DRY (Pragmatic Programmer). O comum na base; a mudança se propaga.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LSP: subtipo substituível. Contraexemplo Playlist/ArrayList. Bloch + GoF: composição sobre herança.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 clássico: herança sem 'é um' (fere LSP). Regra: 'é um' + substituível; na dúvida, composição.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Def. Cardelli &amp; Wegner. Uma operação (contrato), vários métodos. Ligação dinâmica.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diagrama: operação abstrata (itálico/*) na base, sobrescrita nas subclasses.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chamada, resultados diferentes. O chamador não usa if — o objeto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OCP (Martin): adicionar Podcaster não muda o chamador. Liga com Strategy (GoF).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polimorfismo = if/instanceof espalhado (Feathers: difícil de mudar). Com = OCP.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Síntese visual: os quatro pilares num único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acionável: faça/evite por pilar.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Abre a seção de exercícios. Um bloco por pilar + integrador.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Exercícios de abstração: recorte, generalização, especulação (YAGNI), níveis de abstração.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Exercícios de encapsulamento: invariante, máquina de estados protegida, vazamento de coleção, visibilidade.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Exercícios de herança: teste 'é um', hierarquia, LSP (Playlist/ArrayList), composição sobre herança.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Exercícios de polimorfismo: redefinição, OCP (novo tipo), remover if de tipo, ligação com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Integrador: os 4 pilares no domínio do grupo. Aponta o MD de apoio.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0"/>
                </a:solidFill>
                <a:latin typeface="Calibri"/>
              </a:rPr>
              <a:t>ANÁLISE E PROJETO DE SISTEMAS ORIENTADOS A OBJETOS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74519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F3A5F"/>
                </a:solidFill>
                <a:latin typeface="Cambria"/>
              </a:rPr>
              <a:t>Os Quatro Pilares da OO — em Modelagem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Abstração · Encapsulamento · Herança · Polimorfismo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657600"/>
            <a:ext cx="3840480" cy="0"/>
          </a:xfrm>
          <a:prstGeom prst="line">
            <a:avLst/>
          </a:prstGeom>
          <a:ln w="19050">
            <a:solidFill>
              <a:srgbClr val="C9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379476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B6570"/>
                </a:solidFill>
                <a:latin typeface="Calibri"/>
              </a:rPr>
              <a:t>Foco em modelagem (UML), com base em Booch, Meyer, Liskov, Parnas, GoF, Martin e Larman.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B6570"/>
                </a:solidFill>
                <a:latin typeface="Calibri"/>
              </a:rPr>
              <a:t>Todos os exemplos usam a plataforma de streaming de música </a:t>
            </a:r>
            <a:r>
              <a:rPr sz="1400" b="0" i="1">
                <a:solidFill>
                  <a:srgbClr val="5B6570"/>
                </a:solidFill>
                <a:latin typeface="Calibri"/>
              </a:rPr>
              <a:t>Melodia</a:t>
            </a:r>
            <a:r>
              <a:rPr sz="1400" b="0" i="0">
                <a:solidFill>
                  <a:srgbClr val="5B657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Os quatro pilares num relance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3291840"/>
                <a:gridCol w="3017520"/>
                <a:gridCol w="2743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A5F"/>
                          </a:solidFill>
                          <a:latin typeface="Calibri"/>
                        </a:rPr>
                        <a:t>Pilar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A5F"/>
                          </a:solidFill>
                          <a:latin typeface="Calibri"/>
                        </a:rPr>
                        <a:t>Pergunta que responde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A5F"/>
                          </a:solidFill>
                          <a:latin typeface="Calibri"/>
                        </a:rPr>
                        <a:t>No Melodia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A5F"/>
                          </a:solidFill>
                          <a:latin typeface="Calibri"/>
                        </a:rPr>
                        <a:t>Notação UML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Abstração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Como mostro só o essencial?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Usuario / ConteudoDeAudio genéricos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nome em itálico «abstract»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Encapsulamento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Como protejo os dados?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reproducoes / status privados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 privado / + público / # protegido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Herança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Como reaproveito código?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Ouvinte/Artista é um Usuario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triângulo vazio ──▷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Polimorfismo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Como a mesma ação varia?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beneficios() por tipo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operação redefinida na subclasse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92040"/>
            <a:ext cx="11094415" cy="640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01768"/>
            <a:ext cx="1072865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5B6570"/>
                </a:solidFill>
                <a:latin typeface="Calibri"/>
              </a:rPr>
              <a:t>Cada pilar tem uma marca visível no diagrama de classes. Vamos ver um por vez — sempre com o exemplo do streaming e o que dizem os autores.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Quem definiu esses conceitos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80560"/>
                <a:gridCol w="65836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3A5F"/>
                          </a:solidFill>
                          <a:latin typeface="Calibri"/>
                        </a:rPr>
                        <a:t>Autor(es) / obra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3A5F"/>
                          </a:solidFill>
                          <a:latin typeface="Calibri"/>
                        </a:rPr>
                        <a:t>Contribuição para os pilares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Booch — OOAD with Applications (1994)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objeto = estado + comportamento + identidade; abstração, encapsulamento, hierarquia, tipagem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Parnas — CACM (1972)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ocultamento de informação (cada módulo esconde uma decisão de projeto)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Meyer — Object-Oriented Software Construction (1997)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projeto por contrato; encapsulamento com pré/pós-condições e invariantes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Liskov &amp; Guttag (1986); Liskov (1994)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abstração de dados e o Princípio da Substituição (LSP) para herança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Cardelli &amp; Wegner — Comp. Surveys (1985)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teoria de tipos e polimorfismo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Gamma, Helm, Johnson, Vlissides — GoF (1994)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“prefira composição a herança”; “programe para uma interface”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R. C. Martin (2002); Larman (2004)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SOLID (OCP, LSP) e atribuição de responsabilidades (GRASP)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1 — ABSTRAÇÃO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é abstração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1051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28655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3A5F"/>
                </a:solidFill>
                <a:latin typeface="Calibri"/>
              </a:rPr>
              <a:t>Definição.  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“Uma abstração denota as características essenciais de um objeto que o distinguem de todos os outros tipos de objeto” — destacando o essencial e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ignorando o irrelevante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para o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756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570"/>
                </a:solidFill>
                <a:latin typeface="Calibri"/>
              </a:rPr>
              <a:t>— Booch, Object-Oriented Analysis and Design with Applications (1994).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Dois sentidos na modelagem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9441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1)  Recorte —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guardar só os atributos/operações que o problema precisa (um ouvinte real tem altura, cidade, time de futebol… o sistema fica com nome, e-mail, assinatura).</a:t>
            </a:r>
          </a:p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2)  Generalização —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criar um tipo genérico (classe abstrata) que representa vários específicos. É a base da herança e do polimorfismo.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04748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Larman (Applying UML and Patterns):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modelar é atribuir responsabilidades a abstrações — decidir quem sabe o quê. Abstrair bem é o primeiro passo do bom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1 — ABSTRAÇÃO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Recorte: só o essencial ao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20240"/>
            <a:ext cx="4572000" cy="274320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5740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06060"/>
                </a:solidFill>
                <a:latin typeface="Calibri"/>
              </a:rPr>
              <a:t>🌍 Mundo real (infinitos detalhes)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468880"/>
            <a:ext cx="42062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Ana Souza · 1,65 m · gosta de rock · mora em Santos · torce pelo time X · aniversário em maio · fone bluetooth · plano Premium · e-mail ana@… · 3 playlists · segue 12 artistas…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0" y="3291840"/>
            <a:ext cx="914400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040880" y="2560320"/>
            <a:ext cx="3108960" cy="9829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578608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40880" y="2889503"/>
            <a:ext cx="310896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0" y="2935223"/>
            <a:ext cx="2926079" cy="580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nome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email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assinatura : Assinatura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570"/>
                </a:solidFill>
                <a:latin typeface="Calibri"/>
              </a:rPr>
              <a:t>só o que o sistema precisa saber para reproduzir e cobrar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04748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O essencial depende do domínio: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num sistema de saúde, o tipo sanguíneo do ouvinte importaria; na Melodia, não. Abstração é relativa ao problema (Booch).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1 — ABSTRAÇÃO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Generalização: a classe abstrata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Ouvinte e Artista têm coisas em comum. A abstração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Usuario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 reúne o essencial compartilhado. Na UML, é uma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classe abstrata «abstract» (nome em itálico)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 — não se instancia.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2148840"/>
            <a:ext cx="2743200" cy="941832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21671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Usuario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2624328"/>
            <a:ext cx="2743199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46320" y="2670048"/>
            <a:ext cx="25603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nome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email : String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06908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08736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406908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408736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Artista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5952744" y="3090672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3200400" y="3310128"/>
            <a:ext cx="2926080" cy="758952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126480" y="3310128"/>
            <a:ext cx="2834640" cy="758952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120640"/>
            <a:ext cx="11094415" cy="685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30368"/>
            <a:ext cx="1072865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A5F"/>
                </a:solidFill>
                <a:latin typeface="Calibri"/>
              </a:rPr>
              <a:t>«abstract»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marca um conceito genérico: existe para ser especializado, não para virar objeto direto. É o que Booch chama de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hierarquia de generalização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1 — ABSTRAÇÃO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Mais um exemplo: tipos de conteúdo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A Melodia vai além de músicas: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Podcast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 e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Audiolivro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. Todos são “algo que se reproduz”. A abstração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ConteudoDeAudio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 captura o essencial comum.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011680"/>
            <a:ext cx="3200400" cy="1220724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02996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ConteudoDeAudio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80560" y="2487168"/>
            <a:ext cx="32004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532888"/>
            <a:ext cx="30175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titulo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duracaoSegundos : int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0" y="2953512"/>
            <a:ext cx="32004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0" y="2999232"/>
            <a:ext cx="30175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reproduzir()* void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9768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1596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Musica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429768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431596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Podcast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429768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431596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Audiolivro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5907024" y="3232404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2286000" y="3451860"/>
            <a:ext cx="3794760" cy="845820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080759" y="3451860"/>
            <a:ext cx="1" cy="845820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080760" y="3451860"/>
            <a:ext cx="3794760" cy="845820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394960"/>
            <a:ext cx="11094415" cy="7315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0468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Níveis de abstração (Liskov &amp; Guttag, 1986):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“reproduzir” é alto nível (o que o usuário quer); buffer, codec e rede são baixo nível — escondidos pela abstração.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1 — ABSTRAÇÃO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acontece se não usar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77724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Detalhe demais: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o diagrama enche de atributos irrelevantes e fica ilegível; ninguém acha o que importa.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1094415" cy="77724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9572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Sem generalização: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titulo/duracao repetidos em Musica, Podcast e Audiolivro — mudou um, tem de mudar em todos.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11094415" cy="77724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1012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Abstração especulativa: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criar ConteudoBaseAbstratoFactory “para o futuro” incha o modelo sem necessidade (viola YAGNI).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11094415" cy="822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A5F"/>
                </a:solidFill>
                <a:latin typeface="Calibri"/>
              </a:rPr>
              <a:t>🧭 Regra: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abstraia o essencial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do problema atual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. “Duplicação é mais barata que a abstração errada” (Sandi Metz).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2 — ENCAPSULAMENTO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é encapsulamento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10972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3A5F"/>
                </a:solidFill>
                <a:latin typeface="Calibri"/>
              </a:rPr>
              <a:t>Definição.  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Encapsular é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esconder o estado interno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de um objeto, expondo-o só por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operações controladas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. Parnas: cada módulo deve “esconder uma decisão de projeto” das demais.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570"/>
                </a:solidFill>
                <a:latin typeface="Calibri"/>
              </a:rPr>
              <a:t>— Parnas, On the Criteria To Be Used in Decomposing Systems into Modules (CACM, 1972).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•  Ocultar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(atributo privado) — o mundo externo não depende de como o objeto guarda o dado.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•  Proteger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(operações que validam) — mantêm os invariantes: regras que valem sempre.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094415" cy="777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4456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Meyer (Design by Contract):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cada operação tem pré-condição (o que exige) e pós-condição (o que garante); o objeto mantém um invariante de classe entre chamadas.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2 — ENCAPSULAMENTO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Na modelagem: visibilidade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5669280" cy="2377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0160"/>
                <a:gridCol w="210312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/>
                        </a:rPr>
                        <a:t>Símbolo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/>
                        </a:rPr>
                        <a:t>Visibilidade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/>
                        </a:rPr>
                        <a:t>Quem enxerga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privado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só a própria classe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público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qualquer 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protegido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 classe e suas subclasses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pacote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classes do mesmo pacote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0" y="1828800"/>
            <a:ext cx="3840480" cy="144932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84708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Musica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0" y="2157984"/>
            <a:ext cx="384048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06640" y="2203703"/>
            <a:ext cx="3657600" cy="580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titulo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duracaoSegundos : int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reproducoes : int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0" y="2811779"/>
            <a:ext cx="384048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2857499"/>
            <a:ext cx="365760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registrarReproducao()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getReproducoes() 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94415" cy="822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81728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Regra de modelagem: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atributos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- (privados)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; acesso por operações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+ (públicas)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que validam. Comece o mais restrito possível e só abra o necessário.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2 — ENCAPSULAMENTO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Exemplo: o invariante das reproduções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1417320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0" y="1435608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Musica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80560" y="1746504"/>
            <a:ext cx="420624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792224"/>
            <a:ext cx="402335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titulo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reproducoes : int  {&gt;= 0, só aumenta}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0" y="2212848"/>
            <a:ext cx="420624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0" y="2258568"/>
            <a:ext cx="402335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registrarReproducao()  // única porta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getReproducoes() 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As reproduções alimentam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royalties dos artistas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 e o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ranking Top 50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. reproducoes é </a:t>
            </a:r>
            <a:r>
              <a:rPr sz="1450" b="1" i="0">
                <a:solidFill>
                  <a:srgbClr val="1A1A1A"/>
                </a:solidFill>
                <a:latin typeface="Calibri"/>
              </a:rPr>
              <a:t>privado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 e só muda por registrarReproducao().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A1A1A"/>
                </a:solidFill>
                <a:latin typeface="Calibri"/>
              </a:rPr>
              <a:t>Invariante protegido: </a:t>
            </a:r>
            <a:r>
              <a:rPr sz="1450" b="0" i="1">
                <a:solidFill>
                  <a:srgbClr val="1A1A1A"/>
                </a:solidFill>
                <a:latin typeface="Calibri"/>
              </a:rPr>
              <a:t>“as reproduções nunca diminuem nem recebem valor arbitrário”.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11094415" cy="777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1888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Bloch (Effective Java):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“minimize a mutabilidade” e exponha o mínimo — quanto menos vias de mudança, menos bugs de estado.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2 — ENCAPSULAMENTO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Mais exemplos: estado e coleções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554480"/>
            <a:ext cx="35661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72768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Assinatura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1883664"/>
            <a:ext cx="356616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88720" y="1929384"/>
            <a:ext cx="338327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status : StatusAssinatura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plano : Plano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2350008"/>
            <a:ext cx="356616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88720" y="2395728"/>
            <a:ext cx="338327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cancelar()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reativar()  {só se SUSPENSA}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554480"/>
            <a:ext cx="661385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1) Invariante de ciclo de vida: 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status muda só por operações. reativar() exige que a assinatura esteja SUSPENSA; uma CANCELADA não volta.</a:t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2) Não vazar coleções: 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getMusicas() de uma Playlist deve devolver uma visão somente-leitura — nunca a lista interna mutável.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80560"/>
            <a:ext cx="11094415" cy="822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90288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Fowler (AnemicDomainModel):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se a classe só tem get/set e a regra vive fora dela, o encapsulamento é “de fachada”. Dados e regras devem morar juntos.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2 — ENCAPSULAMENTO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acontece se não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173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Sem encapsulamento (atributo público)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54480" y="1783080"/>
            <a:ext cx="3108960" cy="608076"/>
          </a:xfrm>
          <a:prstGeom prst="rect">
            <a:avLst/>
          </a:prstGeom>
          <a:solidFill>
            <a:srgbClr val="F8D7DA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801368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Musica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54480" y="2112264"/>
            <a:ext cx="310896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45920" y="2157984"/>
            <a:ext cx="2926079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reproducoes : 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432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Qualquer código faz </a:t>
            </a:r>
            <a:r>
              <a:rPr sz="1300" b="0" i="0">
                <a:solidFill>
                  <a:srgbClr val="1A1A1A"/>
                </a:solidFill>
                <a:latin typeface="Courier New"/>
              </a:rPr>
              <a:t>musica.reproducoes = 0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e corrompe ranking e royalties. O erro de uma pessoa vira incidente de todos.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4173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Calibri"/>
              </a:rPr>
              <a:t>✅ Com encapsulamento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1783080"/>
            <a:ext cx="338328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801368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Musica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0" y="2112264"/>
            <a:ext cx="338328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23759" y="2157984"/>
            <a:ext cx="320040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reproducoes : int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391156"/>
            <a:ext cx="338328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23759" y="2436876"/>
            <a:ext cx="320040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registrarReproducao()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 estado inválido fica </a:t>
            </a:r>
            <a:r>
              <a:rPr sz="1300" b="1" i="0">
                <a:solidFill>
                  <a:srgbClr val="1A1A1A"/>
                </a:solidFill>
                <a:latin typeface="Calibri"/>
              </a:rPr>
              <a:t>impossível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: só a operação muda o valor, e ela só incrementa.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11094415" cy="777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6460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A5F"/>
                </a:solidFill>
                <a:latin typeface="Calibri"/>
              </a:rPr>
              <a:t>🧭 Encapsulamento não é purismo: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é o que impede que o erro de uma pessoa vire incidente de todos (Parnas).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3 — HERANÇA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é herança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1051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28655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3A5F"/>
                </a:solidFill>
                <a:latin typeface="Calibri"/>
              </a:rPr>
              <a:t>Definição.  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Herança permite que uma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subclasse especialize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uma superclasse,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reaproveitando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seus atributos e operações. Vale o teste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“é um”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756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570"/>
                </a:solidFill>
                <a:latin typeface="Calibri"/>
              </a:rPr>
              <a:t>— Booch (1994).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O teste “é um”: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só modele herança quando “Subclasse é uma Superclasse” for verdadeiro.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Ouvinte é um Usuario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 ✓   ·  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Artista é um Usuario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 ✓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Playlist é uma Lista?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 ✗ — Playlist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tem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músicas (composição/agregação), não “é” uma lista.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709160"/>
            <a:ext cx="11094415" cy="7315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Herança expressa generalização/especialização (Rumbaugh, OMT).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É a relação mais forte entre classes — use com parcimônia.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3 — HERANÇA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Na modelagem: generalização (triângulo vazio)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554480"/>
            <a:ext cx="2743200" cy="941832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157276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Usuario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754880" y="2029967"/>
            <a:ext cx="2743199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846320" y="2075687"/>
            <a:ext cx="25603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nome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email : String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657600"/>
            <a:ext cx="2651760" cy="60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675887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0" y="3986784"/>
            <a:ext cx="265176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20240" y="4032504"/>
            <a:ext cx="2468879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playlists :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657600"/>
            <a:ext cx="2651760" cy="60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675887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Artista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0" y="3986784"/>
            <a:ext cx="265176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0" y="4032504"/>
            <a:ext cx="2468879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nomeArtistico : String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5952744" y="2496312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154680" y="2715768"/>
            <a:ext cx="2971800" cy="941832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6126480" y="2715768"/>
            <a:ext cx="2880360" cy="941832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120640"/>
            <a:ext cx="11094415" cy="7315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23036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A1A"/>
                </a:solidFill>
                <a:latin typeface="Calibri"/>
              </a:rPr>
              <a:t>A linha com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triângulo vazio ──▷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aponta para a superclasse. Ouvinte e Artista herdam nome/email (protegidos, #) e acrescentam só o que é seu.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3 — HERANÇA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ganho: reúso sem duplicar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4023360"/>
                <a:gridCol w="41148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1F3A5F"/>
                          </a:solidFill>
                          <a:latin typeface="Calibri"/>
                        </a:rPr>
                        <a:t>Onde mora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1F3A5F"/>
                          </a:solidFill>
                          <a:latin typeface="Calibri"/>
                        </a:rPr>
                        <a:t>Sem herança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1F3A5F"/>
                          </a:solidFill>
                          <a:latin typeface="Calibri"/>
                        </a:rPr>
                        <a:t>Com herança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nome, email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repetidos em Ouvinte e Artista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uma vez, em Usuario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mudar a regra de e-mail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em 2 (ou N) lugares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em 1 lugar (a base)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novo tipo (ex.: Podcaster)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copia tudo de novo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estende Usuario e herda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97680"/>
            <a:ext cx="11094415" cy="868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407408"/>
            <a:ext cx="1072865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Herança bem usada elimina duplicação (DRY, Hunt &amp; Thomas — The Pragmatic Programmer):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o comum vive num só lugar, e a mudança se propaga para todas as subclasses.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3 — HERANÇA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limite: substituição (LSP)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1094415" cy="10972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3A5F"/>
                </a:solidFill>
                <a:latin typeface="Calibri"/>
              </a:rPr>
              <a:t>Princípio da Substituição de Liskov (LSP).  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objetos de uma subclasse devem poder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substituir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os da superclasse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sem quebrar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o programa. Se a subclasse não “se comporta como” a base, a herança está errada.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756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570"/>
                </a:solidFill>
                <a:latin typeface="Calibri"/>
              </a:rPr>
              <a:t>— Liskov (1994); ver também R. C. Martin, SOLID (o “L”).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A1A1A"/>
                </a:solidFill>
                <a:latin typeface="Calibri"/>
              </a:rPr>
              <a:t>No Melodia: 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onde o sistema espera um Usuario, um Ouvinte ou um Artista devem funcionar. Isso vale ✓.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A1A1A"/>
                </a:solidFill>
                <a:latin typeface="Calibri"/>
              </a:rPr>
              <a:t>Contraexemplo: 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Playlist extends ArrayList herda add(), mas também remove(), clear()… que não fazem sentido — e viola o LSP.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51960"/>
            <a:ext cx="11094415" cy="868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61688"/>
            <a:ext cx="1072865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Bloch (Effective Java):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“projete e documente para herança, ou então proíba-a”; e “prefira composição a herança” (GoF).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3 — HERANÇA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acontece se usar errado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96012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10728655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Herança forçada (sem “é um”):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Playlist herdando de Lista só para reusar add(). A Playlist expõe toda a interface da Lista e fica presa a ela (fere o LSP).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11094415" cy="82296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Duplicação por medo de herdar: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copiar atributos entre classes parecidas gera inconsistência quando uma muda e a outra não.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11094415" cy="1828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1072865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🧭 Regra de ouro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Herança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só no “é um” verdadeiro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e substituível (LSP). Se for “tem um”, use composição/agregação.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Na dúvida,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prefira composição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(GoF): mais flexível e menos acoplada que herança.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4 — POLIMORFISMO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é polimorfismo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10972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3A5F"/>
                </a:solidFill>
                <a:latin typeface="Calibri"/>
              </a:rPr>
              <a:t>Definição.  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Polimorfismo é a capacidade de uma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mesma mensagem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produzir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comportamentos diferentes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conforme o </a:t>
            </a:r>
            <a:r>
              <a:rPr sz="1550" b="1" i="0">
                <a:solidFill>
                  <a:srgbClr val="1A1A1A"/>
                </a:solidFill>
                <a:latin typeface="Calibri"/>
              </a:rPr>
              <a:t>tipo real</a:t>
            </a:r>
            <a:r>
              <a:rPr sz="1550" b="0" i="0">
                <a:solidFill>
                  <a:srgbClr val="1A1A1A"/>
                </a:solidFill>
                <a:latin typeface="Calibri"/>
              </a:rPr>
              <a:t> do objeto (ligação dinâmica).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570"/>
                </a:solidFill>
                <a:latin typeface="Calibri"/>
              </a:rPr>
              <a:t>— Cardelli &amp; Wegner, On Understanding Types, Data Abstraction, and Polymorphism (1985); Booch (1994).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“Poli-morfismo” = muitas formas.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A mesma operação, respostas diferentes por tipo.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Operação × método: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a operação é o contrato (declarado na superclasse, muitas vezes abstrato); o método é a implementação — uma por subclasse.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094415" cy="777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4456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É o polimorfismo de subtipo (Cardelli &amp; Wegner).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A escolha do método acontece em tempo de execução — “ligação dinâmica” (late binding).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4 — POLIMORFISMO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Na modelagem: operação redefinida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508760"/>
            <a:ext cx="2926080" cy="75438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15270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Usuario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754880" y="1984248"/>
            <a:ext cx="292608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846320" y="2029967"/>
            <a:ext cx="274320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beneficios()* String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657600"/>
            <a:ext cx="2743200" cy="60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675887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0" y="3986784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20240" y="4032504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 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657600"/>
            <a:ext cx="2743200" cy="60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675887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Artista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0" y="3986784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0" y="4032504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 String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6044184" y="2263139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200400" y="2482596"/>
            <a:ext cx="3017520" cy="117500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6217920" y="2482596"/>
            <a:ext cx="2834640" cy="117500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7315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2180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A1A"/>
                </a:solidFill>
                <a:latin typeface="Courier New"/>
              </a:rPr>
              <a:t>beneficios()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é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abstrata (*) na base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e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redefinida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em cada subclasse: 1 operação (contrato), N implementações (uma por tipo).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4 — POLIMORFISMO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A mesma mensagem, respostas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463040"/>
            <a:ext cx="2743200" cy="75438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0" y="14813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Usuario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1938528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0" y="1984248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beneficios()* String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3291840" cy="60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3401568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63040" y="3712464"/>
            <a:ext cx="329184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554480" y="3758184"/>
            <a:ext cx="310896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→ “streaming + playlists”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3383280"/>
            <a:ext cx="3291840" cy="60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3401568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Artista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79" y="3712464"/>
            <a:ext cx="329184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19" y="3758184"/>
            <a:ext cx="310896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→ “publicar + royalties”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6135624" y="2217420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108960" y="2436876"/>
            <a:ext cx="3200400" cy="94640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6309360" y="2436876"/>
            <a:ext cx="2834640" cy="94640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4663440"/>
            <a:ext cx="11094415" cy="868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1072865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A1A"/>
                </a:solidFill>
                <a:latin typeface="Courier New"/>
              </a:rPr>
              <a:t>usuario.beneficios()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 →  depende do objeto real: um Ouvinte responde uma coisa, um Artista outra. </a:t>
            </a:r>
            <a:r>
              <a:rPr sz="1350" b="1" i="0">
                <a:solidFill>
                  <a:srgbClr val="1A1A1A"/>
                </a:solidFill>
                <a:latin typeface="Calibri"/>
              </a:rPr>
              <a:t>Quem chama não precisa saber o tipo.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4 — POLIMORFISMO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Por que importa: extensão sem mexer (OCP)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463040"/>
            <a:ext cx="2743200" cy="75438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14813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Usuario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754880" y="1938528"/>
            <a:ext cx="2743199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846320" y="1984248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beneficios()* String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29184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1012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291840"/>
            <a:ext cx="2377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31012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Artista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3291840"/>
            <a:ext cx="2377440" cy="329184"/>
          </a:xfrm>
          <a:prstGeom prst="rect">
            <a:avLst/>
          </a:prstGeom>
          <a:solidFill>
            <a:srgbClr val="E8F5E9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331012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Podcaster</a:t>
            </a:r>
          </a:p>
        </p:txBody>
      </p:sp>
      <p:sp>
        <p:nvSpPr>
          <p:cNvPr id="14" name="Isosceles Triangle 13"/>
          <p:cNvSpPr/>
          <p:nvPr/>
        </p:nvSpPr>
        <p:spPr>
          <a:xfrm>
            <a:off x="5952744" y="2217420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2468880" y="2436876"/>
            <a:ext cx="3657600" cy="85496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080759" y="2436876"/>
            <a:ext cx="45721" cy="85496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6126480" y="2436876"/>
            <a:ext cx="3566160" cy="854964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0" y="397763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2E7D32"/>
                </a:solidFill>
                <a:latin typeface="Calibri"/>
              </a:rPr>
              <a:t>novo tipo: só implementa beneficios()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0560"/>
            <a:ext cx="11094415" cy="914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90288"/>
            <a:ext cx="10728655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Calibri"/>
              </a:rPr>
              <a:t>💡 Princípio Aberto/Fechado (Martin):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aberto para extensão (novo tipo Podcaster), fechado para modificação (o código que chama beneficios() não muda). O padrão Strategy (GoF) usa a mesma ideia.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PILAR 4 — POLIMORFISMO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O que acontece se não usar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731520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B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1072865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6060"/>
                </a:solidFill>
                <a:latin typeface="Calibri"/>
              </a:rPr>
              <a:t>❌ Sem polimorfismo: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o comportamento por tipo vira uma cascata de if espalhada: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240280"/>
            <a:ext cx="9235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340864"/>
            <a:ext cx="8869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if (usuario é Ouvinte) { … } else if (usuario é Artista) { … } else if (…) { … }</a:t>
            </a:r>
          </a:p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5B6570"/>
                </a:solidFill>
                <a:latin typeface="Calibri"/>
              </a:rPr>
              <a:t>…repetido em vários pontos do sistema.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Cada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novo tipo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obriga a caçar e alterar todos esses if — frágil e propenso a erro.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Feathers (Working Effectively with Legacy Code)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chama isso de código difícil de mudar com segurança.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11094415" cy="777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544568"/>
            <a:ext cx="1072865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A5F"/>
                </a:solidFill>
                <a:latin typeface="Calibri"/>
              </a:rPr>
              <a:t>🧭 Substitua o if de tipo por polimorfismo: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deixe cada objeto responder por si. É a base do OCP.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OS QUATRO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Um diagrama, os quatro pilares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463040"/>
            <a:ext cx="2834640" cy="1220724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148132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B6570"/>
                </a:solidFill>
                <a:latin typeface="Calibri"/>
              </a:rPr>
              <a:t>«abstract»</a:t>
            </a:r>
          </a:p>
          <a:p>
            <a:pPr algn="ctr">
              <a:lnSpc>
                <a:spcPct val="100000"/>
              </a:lnSpc>
            </a:pPr>
            <a:r>
              <a:rPr sz="1250" b="1" i="1">
                <a:solidFill>
                  <a:srgbClr val="1A1A1A"/>
                </a:solidFill>
                <a:latin typeface="Calibri"/>
              </a:rPr>
              <a:t>Usuario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754880" y="1938528"/>
            <a:ext cx="283464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846320" y="1984248"/>
            <a:ext cx="265176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nome : String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# email : String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54880" y="2404872"/>
            <a:ext cx="283464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846320" y="2450591"/>
            <a:ext cx="265176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beneficios()* String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54480" y="3840480"/>
            <a:ext cx="274320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85876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Ouvinte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4169664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45920" y="4215384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assinatura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54480" y="4448556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645920" y="4494276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3840480"/>
            <a:ext cx="274320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385876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Artista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40" y="4169664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79" y="4215384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- nomeArtistico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63840" y="4448556"/>
            <a:ext cx="2743200" cy="0"/>
          </a:xfrm>
          <a:prstGeom prst="line">
            <a:avLst/>
          </a:prstGeom>
          <a:ln w="12700">
            <a:solidFill>
              <a:srgbClr val="6C8E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55279" y="4494276"/>
            <a:ext cx="2560320" cy="205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+ beneficios()</a:t>
            </a:r>
          </a:p>
        </p:txBody>
      </p:sp>
      <p:sp>
        <p:nvSpPr>
          <p:cNvPr id="22" name="Isosceles Triangle 21"/>
          <p:cNvSpPr/>
          <p:nvPr/>
        </p:nvSpPr>
        <p:spPr>
          <a:xfrm>
            <a:off x="5998464" y="2683764"/>
            <a:ext cx="347472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2926080" y="2903220"/>
            <a:ext cx="3246120" cy="937260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6172200" y="2903220"/>
            <a:ext cx="3063240" cy="937260"/>
          </a:xfrm>
          <a:prstGeom prst="line">
            <a:avLst/>
          </a:prstGeom>
          <a:ln w="15875">
            <a:solidFill>
              <a:srgbClr val="5B6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44068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A5F"/>
                </a:solidFill>
                <a:latin typeface="Calibri"/>
              </a:rPr>
              <a:t>Abstração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(Usuario «abstract»)  ·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Encapsulamento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(# e -)  ·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Herança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(──▷)  ·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Polimorfismo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(beneficios() redefinida)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Regra de ouro dos pilares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94560"/>
                <a:gridCol w="4206240"/>
                <a:gridCol w="46634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/>
                        </a:rPr>
                        <a:t>Pilar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/>
                        </a:rPr>
                        <a:t>Faça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/>
                        </a:rPr>
                        <a:t>Evite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Abstração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 essencial do problema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detalhe demais / generalizar “para o futuro”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Encapsulamento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atributos - ; acesso por + que valida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atributos públicos sem regra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Herança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só no “é um” substituível (LSP)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herança forçada / duplicação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Polimorfismo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operação redefinida por tipo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if/instanceof por tipo espalhado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29200"/>
            <a:ext cx="11094415" cy="640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38928"/>
            <a:ext cx="1072865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5B6570"/>
                </a:solidFill>
                <a:latin typeface="Calibri"/>
              </a:rPr>
              <a:t>Abstraia o essencial · proteja o estado · herde só no “é um” · deixe cada objeto responder por 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PRÁTICA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Exercícios por tópico — Melodia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Os exercícios abaixo são de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modelagem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(desenhe e justifique diagramas de classes) usando o streaming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Melodia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. Nos próximos slides, um bloco por pilar; ao final, um exercício integrador para o projeto do grupo.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468880"/>
          <a:ext cx="11064240" cy="2560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83210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1F3A5F"/>
                          </a:solidFill>
                          <a:latin typeface="Calibri"/>
                        </a:rPr>
                        <a:t>Bloco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1F3A5F"/>
                          </a:solidFill>
                          <a:latin typeface="Calibri"/>
                        </a:rPr>
                        <a:t>Foco</a:t>
                      </a:r>
                    </a:p>
                  </a:txBody>
                  <a:tcPr marL="73152" marR="54864" marT="18288" marB="18288" anchor="ctr">
                    <a:solidFill>
                      <a:srgbClr val="E9EC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Abstração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recorte do essencial + generalização de tipos de conteúdo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Encapsulamento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visibilidade + invariantes + não vazar coleções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Herança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teste “é um” + LSP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Polimorfismo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operação redefinida + OCP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EXERCÍCIOS — ABSTRAÇÃO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/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Abstração (recorte e generalização)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65231" cy="363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Liste 3 atributos que você INCLUIRIA e 3 que IGNORARIA ao modelar um Ouvinte na Melodia. Justifique cada escolha pelo problema (reproduzir e cobrar).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Musica, Podcast e Audiolivro compartilham “ser reproduzido”. Desenhe uma classe abstrata ConteudoDeAudio que os generalize e diga quais atributos/operações são essenciais nela.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Dê um exemplo de abstração ESPECULATIVA que você NÃO deveria criar agora na Melodia — e explique por que ela violaria o YAGNI.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Aponte, no seu recorte do exercício 2, o que é “alto nível” (o que o usuário quer) e o que seria “baixo nível” (escondido pela abstração).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EXERCÍCIOS — ENCAPSULAMENTO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/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Encapsulamento (visibilidade e invariantes)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65231" cy="363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Por que reproducoes de Musica deve ser privado (-)? Que invariante isso protege e que operação é a única “porta” para mudá-lo?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 classe Assinatura tem status. Escreva (em modelagem) as operações que mudam o status e diga qual regra cada uma protege (ex.: “uma assinatura cancelada não volta”).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Identifique um VAZAMENTO de encapsulamento: getMusicas() de uma Playlist devolvendo a lista interna. Explique o risco e como corrigir no modelo.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Reescreva a classe Musica marcando a visibilidade (- / + / #) de cada atributo e operação, e justifique uma que seja # (protegida).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EXERCÍCIOS — HERANÇA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/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Herança (“é um” e substituição/LSP)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65231" cy="363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Diga se cada um é um “é um” válido e justifique: (a) Artista é um Usuario; (b) Playlist é uma Lista; (c) Podcast é um ConteudoDeAudio.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Desenhe a hierarquia Usuario → Ouvinte/Artista indicando quais atributos ficam na BASE (herdados) e quais ficam em cada SUBCLASSE.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Aplique o teste LSP: explique por que “Playlist extends ArrayList” é problemático (o que a Playlist passaria a permitir que não deveria?).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Proponha, para um caso “tem um” do seu diagrama, por que composição/agregação é melhor que herança.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EXERCÍCIOS — POLIMORFISMO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/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94415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Polimorfismo (operação redefinida e OCP)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65231" cy="363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beneficios() é redefinida em Ouvinte e Artista. Escreva o que cada implementação retornaria (uma frase por tipo).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Chega um novo tipo Podcaster. Mostre, no diagrama, como ele entra — e explique por que o código que faz usuario.beneficios() NÃO precisa mudar (OCP).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Reescreva mentalmente um trecho “if (tipo == OUVINTE) … else if (tipo == ARTISTA) …” como uma operação polimórfica. O que some do código do chamador?</a:t>
            </a:r>
          </a:p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Relacione este exercício com o padrão Strategy (GoF): onde estaria a “estratégia” que varia por tipo?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570"/>
                </a:solidFill>
                <a:latin typeface="Calibri"/>
              </a:rPr>
              <a:t>EXERCÍCIO INTEGRADOR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3A5F"/>
                </a:solidFill>
                <a:latin typeface="Cambria"/>
              </a:rPr>
              <a:t>Aplique os quatro no seu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No domínio do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seu projeto de grupo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(hotel, loja, farmácia, clínica…), desenhe um diagrama de classes que mostre os quatro pilares: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286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•  Abstração —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uma classe abstrata (nome em itálico «abstract») que generalize dois tipos.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•  Encapsulamento —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atributos com visibilidade (- / #) e um invariante protegido por operação.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•  Herança —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pelo menos uma generalização “é um” (com triângulo vazio ──▷).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•  Polimorfismo —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uma operação abstrata redefinida em cada subclasse.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480560"/>
            <a:ext cx="11094415" cy="822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590288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A5F"/>
                </a:solidFill>
                <a:latin typeface="Calibri"/>
              </a:rPr>
              <a:t>Entrega: </a:t>
            </a:r>
            <a:r>
              <a:rPr sz="1300" b="0" i="0">
                <a:solidFill>
                  <a:srgbClr val="1A1A1A"/>
                </a:solidFill>
                <a:latin typeface="Courier New"/>
              </a:rPr>
              <a:t>projetos-em-grupo/&lt;seu-projeto&gt;/modelagem/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.  Material de apoio: </a:t>
            </a:r>
            <a:r>
              <a:rPr sz="1300" b="0" i="0">
                <a:solidFill>
                  <a:srgbClr val="1A1A1A"/>
                </a:solidFill>
                <a:latin typeface="Courier New"/>
              </a:rPr>
              <a:t>pilares-oo-modelagem.md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da 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57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