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do vocabulário fundamental da OO. Todos os exemplos usam o Melodia, um serviço de streaming de música (Spotify didático) que os alunos já conhecem do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2 minutos a esta linha. Simula (classe/objeto), Kay (mensagens), Booch/Rumbaugh/Jacobson (UML), Meyer (contrato). Os autores reaparecem nas definições.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Frase-chave: mudar de 'que passos executar' para 'quem é o dono deste dado'. Reaparece o curso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Desenhe a cadeia na lousa. Enfatize: responsabilidades distribuídas, colaboração por mensagens.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Identidade é o mais esquecido. Duas contas de ouvinte iguais continuam distintas.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 nº 1 do iniciante: confundir classe (molde) com objeto (instância).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Diferencie: diagrama de objetos (instantâneo, instâncias) x diagrama de classes (tipos). Antecipa a aula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Atributo = substantivo/adjetivo do objeto. Estado = fotografia dos valores agora. Prepara a máquina de estados (aula 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Distinção de prova: operação (contrato) x método (implementação). Meyer: 'design by contract'.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referência — peça para fotografarem. Todo o curso usa estes seis termos.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Código real do projeto. Pergunte: onde está o estado? onde o comportamento? por que 'status' é private?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Panorama; cada pilar vira um módulo do curso. A tabela é o mapa.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sentidos: recorte do essencial e generalização (Usuario). Cuidado com abstrair cedo demais (YAGNI).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Parnas (1972) é a origem de 'information hiding'. História memorável e sem falar de dinheiro/conta.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Generalização (UML: triângulo). Herança reaproveita mas é rígida.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operação, vários métodos. Sem if/instanceof. Base do princípio Aberto/Fechado.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Aparece de novo no módulo de associação (aula 05) e nos princípios de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Fowler dá nome ao anti-padrão. Frase de code review: 'quem é o dono desse dado?'.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Honestidade acadêmica: OO não é bala de prata. Java moderno tem lambdas, record, streams.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a parte conceitual com senso crítico. Nem todo problema é 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Resolva junto. Peça que justifiquem antes de revelar a coluna da direita.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questão 6 antecipa associação (aula 05). Reforce composição x agregação.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Ponte para o trabalho: o mesmo vocabulário aplicado ao domínio de cada grupo. Vale como entrega avaliável (Encontro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Bibliografia acadêmica. Indique Booch e Meyer como leitura principal; Parnas (1972) para information hiding.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Recapitule como autoavaliação. Ponte para Abstração e para o código do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Início da aula extra: como conectar as classes que já sabemos criar. Tudo em nível de modelagem — o objetivo é decidir o TIPO de vínculo entre as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Motivação: relacionamento = linha entre classes no diagrama. A pergunta central da aula é 'qual a natureza do vínculo?'.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Panorama + legenda desenhada com a notação real (seta, losango vazio, losango cheio). O losango fica sempre do lado do 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Associação: linha (com seta de navegação). Ambos independentes. Introduza multiplicidade e papéis aqui.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Agregação: losango vazio no todo (Playlist). A música é compartilhada e sobrevive. É o vínculo 'tem, mas não é dono do ciclo de vida'.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Composição: losango cheio no todo (Album). A faixa é exclusiva e morre com o álbum. Posse total do ciclo de vida.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Slide-chave. A MESMA Musica é composição no Album e agregação na Playlist. A pergunta 'sobrevive sem o todo?'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Multiplicidade documenta uma regra de negócio (quantos de cada lado) e depois vira restrição no banco (chave estrangeira).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v1: mostre o vazio. Classes sem linhas não respondem nenhuma pergunta do domínio. Isso motiva adicionar os relacionamentos.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v2: adiciona a associação mais simples. Ganho concreto: responder 'quem o ouvinte segue?'.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v3: decisão importante. Demonstre o 'se não fizer certo': composição destruiria músicas compartilhadas. Logo, agregação.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v4: fecha o contraste. Musica participa dos dois vínculos com losangos diferentes. Reforce a pergunta decisória.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Modelo final: 1 associação (segue), 2 agregações (monta/contém), 1 composição (faixas) + associação Musica–Artista. Cada linha é uma decisão.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 crítico. O erro mais grave é composição indevida (destrói dados compartilhados). Regra prática: na dúvida, agregação.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Aponta para os dois arquivos markdown. O foco é desenhar diagramas de classes com a notação correta; o gabarito traz os diagramas prontos.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PROJETO DE SISTEMAS ORIENTADOS A OBJETOS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Conceitos de Orientação a Objetos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Objeto, classe, atributo, operação, mensagem e os quatro pilares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703320"/>
            <a:ext cx="3840480" cy="0"/>
          </a:xfrm>
          <a:prstGeom prst="line">
            <a:avLst/>
          </a:prstGeom>
          <a:noFill/>
          <a:ln w="19050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840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— curso de Análise e Projeto OO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 plataforma de streaming de música </a:t>
            </a:r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Melodia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(projeto da disciplina)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HISTÓRICO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Origens da OO e principais autores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orientação a objetos não surgiu de uma vez: é fruto de décadas de trabalho. Conhecer os autores ajuda a entender por que cada conceito existe.</a:t>
            </a:r>
            <a:endParaRPr lang="en-US" sz="14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715975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Autor(es) / obra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Contribuição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Dahl &amp; Nygaard — Simula 67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primeira linguagem OO: as ideias de classe e objeto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Alan Kay — Smalltalk (1970s)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cunhou o termo "orientação a objetos"; ênfase na troca de mensagens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Grady Booch (1994)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 = estado + comportamento + identidade; método Booch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Rumbaugh (OMT, 1991)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modelagem de objetos e dados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Bertrand Meyer (1997)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por contrato; ocultamento de informação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Booch, Rumbaugh &amp; Jacobson (1997)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unificação dos métodos na UML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Projeto de Sistemas OO  ·  Aula 02 — Conceitos de OO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orientação a objetos?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programação estruturada, os dados ficam de um lado e as funções de outro; uma mudança na estrutura de dados se espalha por muitas funções. A OO reúne, numa mesma unidade, os dados e as operações que os manipulam.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16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94276"/>
                <a:gridCol w="4494276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Programação estruturada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Orientação a objetos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 básica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função (procedimento)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objeto (dados + comportamento)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estruturas separadas, muitas vezes globais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atributos privados de cada objeto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"que passos executar?"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"quem é responsável por isto?"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Efeito de mudança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tende a se espalhar (efeito-cascata)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fica contido no objeto dono do dado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Projeto de Sistemas OO  ·  Aula 02 — Conceitos de OO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CENTRAL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sociedade de objetos que trocam mensagens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Kay, criador do termo "orientação a objetos", resume: a essência da OO está na </a:t>
            </a:r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mensagens</a:t>
            </a:r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objetos — cada objeto é responsável por si e pede algo aos outros.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no Melodia — "reproduzir uma música":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2606040" cy="868680"/>
          </a:xfrm>
          <a:prstGeom prst="roundRect">
            <a:avLst>
              <a:gd name="adj" fmla="val 5263"/>
            </a:avLst>
          </a:prstGeom>
          <a:solidFill>
            <a:srgbClr val="F4F5F7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2679192"/>
            <a:ext cx="24597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 : Ouvinte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2994660"/>
            <a:ext cx="222504" cy="0"/>
          </a:xfrm>
          <a:prstGeom prst="line">
            <a:avLst/>
          </a:prstGeom>
          <a:noFill/>
          <a:ln w="15875">
            <a:solidFill>
              <a:srgbClr val="5B657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77184" y="2560320"/>
            <a:ext cx="2606040" cy="868680"/>
          </a:xfrm>
          <a:prstGeom prst="roundRect">
            <a:avLst>
              <a:gd name="adj" fmla="val 5263"/>
            </a:avLst>
          </a:prstGeom>
          <a:solidFill>
            <a:srgbClr val="F4F5F7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0336" y="2679192"/>
            <a:ext cx="24597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plataforma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reproduzir(ana, "Cometa")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83224" y="2994660"/>
            <a:ext cx="222504" cy="0"/>
          </a:xfrm>
          <a:prstGeom prst="line">
            <a:avLst/>
          </a:prstGeom>
          <a:noFill/>
          <a:ln w="15875">
            <a:solidFill>
              <a:srgbClr val="5B657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05728" y="2560320"/>
            <a:ext cx="2606040" cy="868680"/>
          </a:xfrm>
          <a:prstGeom prst="roundRect">
            <a:avLst>
              <a:gd name="adj" fmla="val 5263"/>
            </a:avLst>
          </a:prstGeom>
          <a:solidFill>
            <a:srgbClr val="F4F5F7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78880" y="2679192"/>
            <a:ext cx="24597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"Cometa" : Musica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registrarReproducao()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11768" y="2994660"/>
            <a:ext cx="222504" cy="0"/>
          </a:xfrm>
          <a:prstGeom prst="line">
            <a:avLst/>
          </a:prstGeom>
          <a:noFill/>
          <a:ln w="15875">
            <a:solidFill>
              <a:srgbClr val="5B657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34272" y="2560320"/>
            <a:ext cx="2606040" cy="868680"/>
          </a:xfrm>
          <a:prstGeom prst="roundRect">
            <a:avLst>
              <a:gd name="adj" fmla="val 5263"/>
            </a:avLst>
          </a:prstGeom>
          <a:solidFill>
            <a:srgbClr val="F4F5F7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07424" y="2679192"/>
            <a:ext cx="24597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Banda Nébula : Artista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creditarRoyalty(...)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7490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 confere se a assinatura está ativa, manda a música registrar mais uma reprodução e credita um royalty ao artista. Nenhum objeto faz tudo — cada um faz a sua parte.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5262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objeto emissor + método invocado + argumentos. Ex.: 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playlist.adicionar(cometa)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0292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Kay, A. The Early History of Smalltalk (1993).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Projeto de Sistemas OO  ·  Aula 02 — Conceitos de OO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VOCABULÁRIO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170432"/>
          </a:xfrm>
          <a:prstGeom prst="roundRect">
            <a:avLst>
              <a:gd name="adj" fmla="val 3906"/>
            </a:avLst>
          </a:prstGeom>
          <a:solidFill>
            <a:srgbClr val="F4F5F7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90472"/>
            <a:ext cx="10725912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Definição.  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Booch, um </a:t>
            </a:r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possui </a:t>
            </a:r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identidade o distingue de todos os demais, mesmo que tenham o mesmo estado.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76272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Booch, G. Object-Oriented Analysis and Design with Applications (1994).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no Melodia — a ouvinte </a:t>
            </a:r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0799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Propriedade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concreto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Identidade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ouvinte de e-mail ana@email.com (único, não se confunde com outro)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 = PREMIUM;  playlists = 2;  segue = Banda Nébula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Comportamento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criarPlaylist(...), seguir(artista), reproduzir(musica)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48640" y="49377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ouvintes no plano PREMIUM têm estados parecidos, mas são objetos diferentes — a identidade os separa.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Projeto de Sistemas OO  ·  Aula 02 — Conceitos de OO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VOCABULÁRIO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 (e sua diferença para o objeto)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170432"/>
          </a:xfrm>
          <a:prstGeom prst="roundRect">
            <a:avLst>
              <a:gd name="adj" fmla="val 3906"/>
            </a:avLst>
          </a:prstGeom>
          <a:solidFill>
            <a:srgbClr val="F4F5F7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90472"/>
            <a:ext cx="10725912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Definição.  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</a:t>
            </a:r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descreve um conjunto de objetos com os mesmos atributos, operações e relacionamentos (Rumbaugh et al.). O objeto é uma </a:t>
            </a:r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instância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classe — o molde e a peça moldada.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76272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Rumbaugh, J. et al. Object-Oriented Modeling and Design (1991).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(uma, em projeto)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5120640" cy="1828800"/>
          </a:xfrm>
          <a:prstGeom prst="roundRect">
            <a:avLst>
              <a:gd name="adj" fmla="val 2500"/>
            </a:avLst>
          </a:prstGeom>
          <a:solidFill>
            <a:srgbClr val="F4F5F7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172968"/>
            <a:ext cx="484632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Musica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titulo;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reproducoes;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registrarReproducao() {...}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duracaoFormatada() {...}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3977640"/>
            <a:ext cx="502920" cy="0"/>
          </a:xfrm>
          <a:prstGeom prst="line">
            <a:avLst/>
          </a:prstGeom>
          <a:noFill/>
          <a:ln w="15875">
            <a:solidFill>
              <a:srgbClr val="5B6570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6355080" y="2743200"/>
            <a:ext cx="52852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(muitos, em execução)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3063240"/>
            <a:ext cx="5285232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3081528"/>
            <a:ext cx="5010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musica1 : Musica   </a:t>
            </a:r>
            <a:pPr indent="0" marL="0"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"Cometa" · 1.240 reproduções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55080" y="3666744"/>
            <a:ext cx="5285232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3685032"/>
            <a:ext cx="5010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musica2 : Musica   </a:t>
            </a:r>
            <a:pPr indent="0" marL="0"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"Gravidade Zero" · 980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4270248"/>
            <a:ext cx="5285232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4288536"/>
            <a:ext cx="5010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musica3 : Musica   </a:t>
            </a:r>
            <a:pPr indent="0" marL="0"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"Silêncio Sideral" · 512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029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a classe Musica é a partitura; cada música tocável é uma execução daquela partitura.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Projeto de Sistemas OO  ·  Aula 02 — Conceitos de OO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VOCABULÁRIO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retrato em memória (diagrama de objetos)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Fotografia do sistema em um instante: objetos reais e seus vínculos. Note os nomes sublinhados no formato objeto : Classe.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240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 : Ouvinte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= PREMIUM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2148840"/>
            <a:ext cx="310896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22402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assAna : Assinatura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· ATIVA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794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favoritas : Playlist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= "Favoritas"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3703320"/>
            <a:ext cx="310896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37947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cometa : Musica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1.240 reproduções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2514600"/>
            <a:ext cx="1463040" cy="0"/>
          </a:xfrm>
          <a:prstGeom prst="line">
            <a:avLst/>
          </a:prstGeom>
          <a:noFill/>
          <a:ln w="15875">
            <a:solidFill>
              <a:srgbClr val="5B65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91840" y="22402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possui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920240" y="2880360"/>
            <a:ext cx="0" cy="822960"/>
          </a:xfrm>
          <a:prstGeom prst="line">
            <a:avLst/>
          </a:prstGeom>
          <a:noFill/>
          <a:ln w="15875">
            <a:solidFill>
              <a:srgbClr val="5B65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011680" y="31546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91840" y="4069080"/>
            <a:ext cx="1463040" cy="0"/>
          </a:xfrm>
          <a:prstGeom prst="line">
            <a:avLst/>
          </a:prstGeom>
          <a:noFill/>
          <a:ln w="15875">
            <a:solidFill>
              <a:srgbClr val="5B657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91840" y="37947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contém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7548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diagrama, com outras músicas e playlists, descreveria outro instante do sistema. É um retrato — não a regra geral (isso é o diagrama de classes).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Projeto de Sistemas OO  ·  Aula 02 — Conceitos de OO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VOCABULÁRIO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Atributo e estado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960120"/>
          </a:xfrm>
          <a:prstGeom prst="roundRect">
            <a:avLst>
              <a:gd name="adj" fmla="val 4762"/>
            </a:avLst>
          </a:prstGeom>
          <a:solidFill>
            <a:srgbClr val="F4F5F7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90472"/>
            <a:ext cx="10725912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Definições.  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</a:t>
            </a:r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uma propriedade nomeada que cada objeto guarda. O </a:t>
            </a:r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o conjunto dos valores dos seus atributos em um dado instante.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no Melodia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110916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120640"/>
                <a:gridCol w="350215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estado possível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Musica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titulo, duracaoSegundos, reproducoes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reproducoes = 1240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Assinatura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plano, status, proximaCobranca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= ATIVA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Playlist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nome, dono, musicas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 = "Favoritas"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4754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Observação: 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estado muda com o tempo (as reproduções sobem a cada play), mas a identidade do objeto permanece.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Projeto de Sistemas OO  ·  Aula 02 — Conceitos de OO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VOCABULÁRIO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Operação (método) e mensagem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170432"/>
          </a:xfrm>
          <a:prstGeom prst="roundRect">
            <a:avLst>
              <a:gd name="adj" fmla="val 3906"/>
            </a:avLst>
          </a:prstGeom>
          <a:solidFill>
            <a:srgbClr val="F4F5F7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90472"/>
            <a:ext cx="10725912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Definições.  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</a:t>
            </a:r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um serviço que a classe oferece; sua </a:t>
            </a:r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um contrato (nome, parâmetros, retorno), na visão de Meyer. Uma </a:t>
            </a:r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o ato de um objeto invocar a operação de outro.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76272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Meyer, B. Object-Oriented Software Construction, 2. ed. (1997).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03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(o contrato):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5669280" cy="960120"/>
          </a:xfrm>
          <a:prstGeom prst="roundRect">
            <a:avLst>
              <a:gd name="adj" fmla="val 4762"/>
            </a:avLst>
          </a:prstGeom>
          <a:solidFill>
            <a:srgbClr val="F4F5F7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310128"/>
            <a:ext cx="539496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boolean seguir(Artista a)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↑ nome  ↑ parâmetro (tipo)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↑ retorno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880360"/>
            <a:ext cx="49651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mensagens: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75120" y="3200400"/>
            <a:ext cx="4965192" cy="960120"/>
          </a:xfrm>
          <a:prstGeom prst="roundRect">
            <a:avLst>
              <a:gd name="adj" fmla="val 4762"/>
            </a:avLst>
          </a:prstGeom>
          <a:solidFill>
            <a:srgbClr val="F4F5F7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12280" y="3310128"/>
            <a:ext cx="4690872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playlist.adicionar(cometa);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musica.registrarReproducao();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ouvinte.seguir(bandaNebula);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348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× método: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operação é a declaração (o quê); o método é a implementação (o como). Um mesmo contrato pode ter vários métodos — base do polimorfismo.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Projeto de Sistemas OO  ·  Aula 02 — Conceitos de OO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VOCABULÁRIO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Quadro-resumo do vocabulário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297680"/>
                <a:gridCol w="5056632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Conceito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 no Melodia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coisa com estado + comportamento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música "Cometa" (1.240 reproduções)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molde que define os objetos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Musica, Playlist, Assinatura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dado que o objeto guarda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titulo, reproducoes, 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ação que o objeto sabe fazer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reproduzir(), adicionar()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Mensagem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objeto pedindo algo a outro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playlist.adicionar(cometa)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valores dos atributos num instante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assinatura ATIVA; 1.240 reproduções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Projeto de Sistemas OO  ·  Aula 02 — Conceitos de OO</a:t>
            </a:r>
            <a:endParaRPr lang="en-US" sz="950" dirty="0"/>
          </a:p>
        </p:txBody>
      </p:sp>
      <p:sp>
        <p:nvSpPr>
          <p:cNvPr id="7" name="Text 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Tudo junto: a classe Assinatura (Java)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406640" cy="3383280"/>
          </a:xfrm>
          <a:prstGeom prst="roundRect">
            <a:avLst>
              <a:gd name="adj" fmla="val 1351"/>
            </a:avLst>
          </a:prstGeom>
          <a:solidFill>
            <a:srgbClr val="F4F5F7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81328"/>
            <a:ext cx="713232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Assinatura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StatusAssinatura status = ATIVA;  // ATRIBUTO (estado protegido)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reativar() {                  // OPERAÇÃO com regra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(status != SUSPENSA)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new IllegalStateException(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"só reativa se estiver suspensa");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status = ATIVA;                       // muda o ESTADO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cancelar() { status = CANCELADA; } // estado final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1371600"/>
            <a:ext cx="34107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1691640"/>
            <a:ext cx="341071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é privado: muda só por operações.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reativar() valida antes de mudar o estado.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assinatura cancelada não volta — estado inválido é impossível.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+ regras moram juntos (não é classe anêmica).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92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mesma Assinatura do projeto Melodia — abra projeto-base-java/ e confira.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Projeto de Sistemas OO  ·  Aula 02 — Conceitos de OO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quatro pilares da OO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206240"/>
                <a:gridCol w="4416552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Pilar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 que responde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Melodia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Abstração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mostro só o essencial?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 genérico esconde os detalhes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Encapsulamento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protejo os dados?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reproducoes e status privados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Herança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reaproveito código?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Ouvinte/Artista É UM Usuario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Polimorfismo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a mesma ação varia?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tipoDePerfil() difere por tipo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8463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Booch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trata abstração, encapsulamento, hierarquia (herança) e tipagem/polimorfismo como os elementos que definem um modelo orientado a objetos.</a:t>
            </a:r>
            <a:endParaRPr lang="en-US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Projeto de Sistemas OO  ·  Aula 02 — Conceitos de OO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170432"/>
          </a:xfrm>
          <a:prstGeom prst="roundRect">
            <a:avLst>
              <a:gd name="adj" fmla="val 3906"/>
            </a:avLst>
          </a:prstGeom>
          <a:solidFill>
            <a:srgbClr val="F4F5F7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90472"/>
            <a:ext cx="10725912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Definição.  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Booch, uma abstração destaca as </a:t>
            </a:r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essenciais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uma entidade — as que a distinguem de todas as outras — e </a:t>
            </a:r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 o que é irrelevante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o problema.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76272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Booch (1994); ver também Liskov &amp; Guttag, Abstraction and Specification (1986).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Melodia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1752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ouvinte real tem altura, cidade, time de futebol... O sistema abstrai só o que importa: nome, e-mail, assinatura e playlists.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Usuario generaliza o que Ouvinte e Artista têm em comum — abstração como generalização.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botão "play" abstrai todo o processo de decodificar e transmitir o áudio — você usa sem conhecer os detalhes. Aprofundamento no módulo 03.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Projeto de Sistemas OO  ·  Aula 02 — Conceitos de OO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Encapsulamento e ocultamento de informação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170432"/>
          </a:xfrm>
          <a:prstGeom prst="roundRect">
            <a:avLst>
              <a:gd name="adj" fmla="val 3906"/>
            </a:avLst>
          </a:prstGeom>
          <a:solidFill>
            <a:srgbClr val="F4F5F7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90472"/>
            <a:ext cx="10725912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Definição.  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Encapsular é esconder o estado interno, expondo-o só por operações controladas. Parnas mostrou que cada módulo deve </a:t>
            </a:r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ocultar uma decisão de projeto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assim o objeto garante seus </a:t>
            </a:r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invariantes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(regras que valem sempre).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76272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Parnas, D. On the Criteria To Be Used in Decomposing Systems into Modules (CACM, 1972); Meyer (1997).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 — a contagem de reproduções corrompida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1752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reproduções de cada música — usadas para os royalties dos artistas e para o ranking Top 50 — ficavam num campo público. Um job de importação zerou o valor direto, e o ranking e os pagamentos saíram errados.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404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Correção: 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reproducoes vira private e só muda por registrarReproducao(). O erro fica </a:t>
            </a:r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impossível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como no Melodia.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348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Encapsulamento não é purismo: impede que o erro de uma pessoa vire incidente de todos.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Projeto de Sistemas OO  ·  Aula 02 — Conceitos de OO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Herança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583680" cy="9144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Definição.  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 permite que uma subclasse </a:t>
            </a:r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especialize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uma superclasse, reaproveitando atributos e operações. Vale o teste </a:t>
            </a:r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"é um"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9339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Booch (1994).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0" y="2514600"/>
            <a:ext cx="23774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2542032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  «abstract»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108960" y="3063240"/>
            <a:ext cx="0" cy="457200"/>
          </a:xfrm>
          <a:prstGeom prst="line">
            <a:avLst/>
          </a:prstGeom>
          <a:noFill/>
          <a:ln w="15875">
            <a:solidFill>
              <a:srgbClr val="5B65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3063240"/>
            <a:ext cx="0" cy="457200"/>
          </a:xfrm>
          <a:prstGeom prst="line">
            <a:avLst/>
          </a:prstGeom>
          <a:noFill/>
          <a:ln w="15875">
            <a:solidFill>
              <a:srgbClr val="5B65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520440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5387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Ouvinte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840480" y="3520440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40480" y="35387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Artista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1605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Ouvinte É UM Usuario · Artista É UM Usuario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98080" y="1554480"/>
            <a:ext cx="4142232" cy="2011680"/>
          </a:xfrm>
          <a:prstGeom prst="roundRect">
            <a:avLst>
              <a:gd name="adj" fmla="val 2273"/>
            </a:avLst>
          </a:prstGeom>
          <a:solidFill>
            <a:srgbClr val="F4F5F7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35240" y="1664208"/>
            <a:ext cx="3867912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class Usuario {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protected String nome;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Ouvinte extends Usuario { }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Artista extends Usuario { }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3703320"/>
            <a:ext cx="41422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 só quando o "é um" for verdadeiro; senão, prefira composição.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Projeto de Sistemas OO  ·  Aula 02 — Conceitos de OO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Polimorfismo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170432"/>
          </a:xfrm>
          <a:prstGeom prst="roundRect">
            <a:avLst>
              <a:gd name="adj" fmla="val 3906"/>
            </a:avLst>
          </a:prstGeom>
          <a:solidFill>
            <a:srgbClr val="F4F5F7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90472"/>
            <a:ext cx="10725912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Definição.  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 é a capacidade de uma mesma mensagem produzir comportamentos diferentes conforme o </a:t>
            </a:r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real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objeto que a recebe (ligação dinâmica).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76272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Cardelli &amp; Wegner, On Understanding Types, Data Abstraction, and Polymorphism (1985); Booch (1994).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6949440" cy="2286000"/>
          </a:xfrm>
          <a:prstGeom prst="roundRect">
            <a:avLst>
              <a:gd name="adj" fmla="val 2000"/>
            </a:avLst>
          </a:prstGeom>
          <a:solidFill>
            <a:srgbClr val="F4F5F7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807208"/>
            <a:ext cx="6675120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class Usuario { abstract String tipoDePerfil(); }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Ouvinte extends Usuario {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tipoDePerfil() { return "Ouvinte"; }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Artista extends Usuario {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tipoDePerfil() { return "Artista"; }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269748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chamada, respostas diferentes: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63840" y="3200400"/>
            <a:ext cx="3776472" cy="1005840"/>
          </a:xfrm>
          <a:prstGeom prst="roundRect">
            <a:avLst>
              <a:gd name="adj" fmla="val 4545"/>
            </a:avLst>
          </a:prstGeom>
          <a:solidFill>
            <a:srgbClr val="F4F5F7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01000" y="3310128"/>
            <a:ext cx="350215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usuario.tipoDePerfil();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Ouvinte -&gt; "Ouvinte"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Artista -&gt; "Artista"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1206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chama não precisa saber o tipo concreto — nem usar if. Um tipo novo (ex.: Podcaster) não exige mudar o código existente.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Projeto de Sistemas OO  ·  Aula 02 — Conceitos de OO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RELACIONADO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Composição sobre herança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170432"/>
          </a:xfrm>
          <a:prstGeom prst="roundRect">
            <a:avLst>
              <a:gd name="adj" fmla="val 3906"/>
            </a:avLst>
          </a:prstGeom>
          <a:solidFill>
            <a:srgbClr val="F4F5F7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90472"/>
            <a:ext cx="10725912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Recomendação.  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grupo GoF recomenda: </a:t>
            </a:r>
            <a:pPr algn="l" indent="0" marL="0">
              <a:lnSpc>
                <a:spcPct val="105000"/>
              </a:lnSpc>
              <a:buNone/>
            </a:pPr>
            <a:r>
              <a:rPr lang="en-US" sz="155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"prefira composição de objetos à herança de classes"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composição ("tem um") é mais flexível que herança ("é um").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76272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Gamma, Helm, Johnson &amp; Vlissides. Design Patterns (1994).</a:t>
            </a:r>
            <a:endParaRPr lang="en-US" sz="11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4223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Melodia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Herança (é um)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Ouvinte é um Usuario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especialização de tipo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Composição (é feito de)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Album é feito de Musicas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parte morre com o todo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Agregação (tem um)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Playlist tem Musicas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parte sobrevive ao todo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46634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dúvida entre herança e composição, prefira composição: ela evita hierarquias rígidas e facilita mudanças.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Projeto de Sistemas OO  ·  Aula 02 — Conceitos de OO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PRÁTICA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Responsabilidade e o modelo anêmico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170432"/>
          </a:xfrm>
          <a:prstGeom prst="roundRect">
            <a:avLst>
              <a:gd name="adj" fmla="val 3906"/>
            </a:avLst>
          </a:prstGeom>
          <a:solidFill>
            <a:srgbClr val="F4F5F7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90472"/>
            <a:ext cx="10725912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Alerta.  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Fowler chama de </a:t>
            </a:r>
            <a:pPr algn="l" indent="0" marL="0">
              <a:lnSpc>
                <a:spcPct val="105000"/>
              </a:lnSpc>
              <a:buNone/>
            </a:pPr>
            <a:r>
              <a:rPr lang="en-US" sz="155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domínio anêmico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classe que só guarda dados, com a lógica jogada para fora. É OO "de fachada": os dados e as regras que os manipulam devem morar </a:t>
            </a:r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76272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Fowler, M. "AnemicDomainModel" (2003).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boas práticas para o projeto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17520"/>
            <a:ext cx="1109167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 "quem é o dono deste dado?" antes de "onde ponho esta função?".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a classe anêmica: se Assinatura só tem get/set, a regra de reativar ficou solta em outro lugar.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composição a herança — herança só no "é um" real.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Projeto de Sistemas OO  ·  Aula 02 — Conceitos de OO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Vantagens e desvantagens da OO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Vantagens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Desvantagens / cuidados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Modela o mundo real de forma intuitiva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Curva de aprendizado maior que a estruturada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Encapsulamento reduz o efeito-cascata de mudanças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Excesso de camadas/abstrações vira complexidade tola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Herança e polimorfismo favorecem reúso e extensão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Herança mal usada gera acoplamento rígido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Facilita testar partes isoladas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Indireção tem custo (relevante em alto desempenho)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1605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indústria: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OO domina back-end (Java, C#) e mobile (Kotlin, Swift), mas hoje se mistura com o paradigma funcional (imutabilidade, funções puras). Use o pilar certo para o problema — não OO por dogma.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Projeto de Sistemas OO  ·  Aula 02 — Conceitos de OO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 CRÍTICO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a OO não é a melhor escolha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167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dados massivo/estatístico — pipelines e SQL costumam ser mais claros que hierarquias de objetos.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pequenos e utilitários — OO vira peso morto (over-engineering).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Altíssimo desempenho / baixo nível — a indireção de objetos custa caro (jogos de motor, embarcados usam data-oriented design).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11091672" cy="1097280"/>
          </a:xfrm>
          <a:prstGeom prst="roundRect">
            <a:avLst>
              <a:gd name="adj" fmla="val 4167"/>
            </a:avLst>
          </a:prstGeom>
          <a:solidFill>
            <a:srgbClr val="F4F5F7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79476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prática.  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 se paga quando o domínio tem regras e estados ricos (como o Melodia: assinaturas, playlists, catálogo). Para transformar planilhas em relatórios, um script simples pode ser melhor.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Projeto de Sistemas OO  ·  Aula 02 — Conceitos de OO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— RESOLVIDOS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Exercícios com o Melodia (1/2)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971032"/>
              </a:tblGrid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Resposta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1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Classifique cada termo em objeto, classe, atributo ou operação:  Playlist ;  nome ;  a playlist "Favoritas" ;  adicionar().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Playlist = classe;  nome = atributo;  a playlist "Favoritas" = objeto (instância);  adicionar() = operação.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Escreva a mensagem para o ouvinte ana seguir a Banda Nébula.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ana.seguir(bandaNebula);  — emissor: ana; operação: seguir; argumento: bandaNebula.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"O plano PREMIUM" e "a assinatura da ana" — qual é classe/tipo e qual é objeto?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é um valor do tipo Plano (enum); "a assinatura da ana" é um objeto da classe Assinatura.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Projeto de Sistemas OO  ·  Aula 02 — Conceitos de OO</a:t>
            </a:r>
            <a:endParaRPr lang="en-US" sz="950" dirty="0"/>
          </a:p>
        </p:txBody>
      </p:sp>
      <p:sp>
        <p:nvSpPr>
          <p:cNvPr id="7" name="Text 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— RESOLVIDOS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Exercícios com o Melodia (2/2)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971032"/>
              </a:tblGrid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Resposta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1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Por que reproducoes deve ser private? Que invariante o encapsulamento protege?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ninguém alterar/zerar o valor por fora. Invariante: as reproduções só aumentam via registrarReproducao() e nunca ficam inconsistentes — garante royalties e ranking corretos.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No par Ouvinte/Artista, onde estão herança e polimorfismo?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Herança: Ouvinte e Artista estendem Usuario. Polimorfismo: tipoDePerfil() responde "Ouvinte" ou "Artista" conforme o objeto — mesma mensagem, comportamento diferente.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Album e Playlist ambos contêm Musica. Qual é composição e qual é agregação?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Album ◆ Musica é composição (a faixa nasce e morre com o álbum). Playlist ◇ Musica é agregação (a música existe fora da playlist).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Projeto de Sistemas OO  ·  Aula 02 — Conceitos de OO</a:t>
            </a:r>
            <a:endParaRPr lang="en-US" sz="950" dirty="0"/>
          </a:p>
        </p:txBody>
      </p:sp>
      <p:sp>
        <p:nvSpPr>
          <p:cNvPr id="7" name="Text 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— ENTREGA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final: aplique no seu projeto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tem um projeto em 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02-programacao/java/projetos-em-grupo/</a:t>
            </a:r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(hotel, loja, farmácia, clínica…). Apliquem o vocabulário desta aula ao </a:t>
            </a:r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</a:t>
            </a:r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domínio: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110916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3 classes do seu domínio, cada uma com 2–3 atributos e 1–2 operações.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uma mensagem entre dois objetos do seu sistema (ex.: pedido.adicionar(item)).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um atributo que deve ser private e diga qual invariante ele protege.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Aponte, no seu modelo, onde aparece cada um dos quatro pilares.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11091672" cy="1051560"/>
          </a:xfrm>
          <a:prstGeom prst="roundRect">
            <a:avLst>
              <a:gd name="adj" fmla="val 4348"/>
            </a:avLst>
          </a:prstGeom>
          <a:solidFill>
            <a:srgbClr val="F4F5F7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297680"/>
            <a:ext cx="107259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Entrega.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Coloquem a resposta em 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projetos-em-grupo/&lt;seu-projeto&gt;/modelagem/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Isso corresponde ao Encontro 2 do PLANO-DE-EVOLUCAO.md do grupo.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Projeto de Sistemas OO  ·  Aula 02 — Conceitos de OO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1672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BOOCH, G. Object-Oriented Analysis and Design with Applications. 2. ed. Benjamin/Cummings, 1994.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RUMBAUGH, J. et al. Object-Oriented Modeling and Design. Prentice Hall, 1991.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MEYER, B. Object-Oriented Software Construction. 2. ed. Prentice Hall, 1997.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PARNAS, D. L. On the Criteria To Be Used in Decomposing Systems into Modules. Comm. of the ACM, 1972.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GAMMA, E.; HELM, R.; JOHNSON, R.; VLISSIDES, J. Design Patterns. Addison-Wesley, 1994.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CARDELLI, L.; WEGNER, P. On Understanding Types, Data Abstraction, and Polymorphism. ACM Computing Surveys, 1985.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LISKOV, B.; GUTTAG, J. Abstraction and Specification in Program Development. MIT Press, 1986.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BOOCH, G.; RUMBAUGH, J.; JACOBSON, I. The Unified Modeling Language User Guide. Addison-Wesley, 1999.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KAY, A. The Early History of Smalltalk. ACM SIGPLAN Notices, 1993.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FOWLER, M. AnemicDomainModel. martinfowler.com, 2003.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Projeto de Sistemas OO  ·  Aula 02 — Conceitos de OO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levar desta aula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167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= estado + comportamento + identidade; o sistema é objetos colaborando por mensagens.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Domino o vocabulário: objeto, classe, atributo, operação, mensagem, estado.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explicar os quatro pilares com um exemplo do Melodia cada.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Reconheço bons autores por trás de cada conceito (Booch, Meyer, Parnas, GoF...).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11091672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749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aula: </a:t>
            </a:r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03 — Abstração. Em seguida começam os diagramas da UML, sempre sobre o mesmo sistema Melodia.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177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Leitura: README da Aula 02  ·  Código: projeto-base-java/ (Musica, Usuario, Ouvinte, Artista, Assinatura).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Projeto de Sistemas OO  ·  Aula 02 — Conceitos de OO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73736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570"/>
                </a:solidFill>
                <a:latin typeface="Calibri"/>
              </a:rPr>
              <a:t>AULA EXTRA — MODELAGEM ORIENTADA A OBJETOS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3A5F"/>
                </a:solidFill>
                <a:latin typeface="Cambria"/>
              </a:rPr>
              <a:t>Relacionamentos: Associação, Agregação e Composição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A1A1A"/>
                </a:solidFill>
                <a:latin typeface="Calibri"/>
              </a:rPr>
              <a:t>Foco em modelagem (UML e diagramas de classes) — sem código Java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3977639"/>
            <a:ext cx="3840480" cy="0"/>
          </a:xfrm>
          <a:prstGeom prst="line">
            <a:avLst/>
          </a:prstGeom>
          <a:ln w="19050">
            <a:solidFill>
              <a:srgbClr val="C9CE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41148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570"/>
                </a:solidFill>
                <a:latin typeface="Calibri"/>
              </a:rPr>
              <a:t>Exemplos com a plataforma de streaming </a:t>
            </a:r>
            <a:r>
              <a:rPr sz="1400" b="0" i="1">
                <a:solidFill>
                  <a:srgbClr val="5B6570"/>
                </a:solidFill>
                <a:latin typeface="Calibri"/>
              </a:rPr>
              <a:t>Melodia</a:t>
            </a:r>
            <a:r>
              <a:rPr sz="1400" b="0" i="0">
                <a:solidFill>
                  <a:srgbClr val="5B6570"/>
                </a:solidFill>
                <a:latin typeface="Calibri"/>
              </a:rPr>
              <a:t>. Ao final: exercícios + gabarito.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570"/>
                </a:solidFill>
                <a:latin typeface="Calibri"/>
              </a:rPr>
              <a:t>Análise e Projeto de Sistemas OO  ·  Aula 02 — Conceitos de OO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570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570"/>
                </a:solidFill>
                <a:latin typeface="Calibri"/>
              </a:rPr>
              <a:t>MOTIVAÇÃO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3A5F"/>
                </a:solidFill>
                <a:latin typeface="Cambria"/>
              </a:rPr>
              <a:t>Por que relacionamentos?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Classes isoladas não formam um sistema. Um software OO é uma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teia de objetos que colaboram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. Um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relacionamento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é um vínculo estrutural entre classes cujos objetos se conhecem — na modelagem, é a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linha que liga duas classes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no diagrama.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108960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10896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Ouvinte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28800" y="3438144"/>
            <a:ext cx="2286000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046720" y="3108960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310896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Playlist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046720" y="3438144"/>
            <a:ext cx="2286000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0" y="3273552"/>
            <a:ext cx="3931920" cy="0"/>
          </a:xfrm>
          <a:prstGeom prst="line">
            <a:avLst/>
          </a:prstGeom>
          <a:ln w="15875">
            <a:solidFill>
              <a:srgbClr val="5B65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80560" y="2880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B06060"/>
                </a:solidFill>
                <a:latin typeface="Calibri"/>
              </a:rPr>
              <a:t>? que tipo de vínculo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9768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Nesta aula respondemos: quando duas classes se ligam, </a:t>
            </a:r>
            <a:r>
              <a:rPr sz="1400" b="1" i="0">
                <a:solidFill>
                  <a:srgbClr val="1A1A1A"/>
                </a:solidFill>
                <a:latin typeface="Calibri"/>
              </a:rPr>
              <a:t>qual é a natureza do vínculo?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Há três respostas possíveis — e escolher a certa muda o significado (e o comportamento) do sistema:</a:t>
            </a:r>
          </a:p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associação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 (conhece)  ·  </a:t>
            </a:r>
            <a:r>
              <a:rPr sz="1400" b="1" i="0">
                <a:solidFill>
                  <a:srgbClr val="1F3A5F"/>
                </a:solidFill>
                <a:latin typeface="Calibri"/>
              </a:rPr>
              <a:t>agregação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 (tem, parte independente)  ·  </a:t>
            </a:r>
            <a:r>
              <a:rPr sz="1400" b="1" i="0">
                <a:solidFill>
                  <a:srgbClr val="1F3A5F"/>
                </a:solidFill>
                <a:latin typeface="Calibri"/>
              </a:rPr>
              <a:t>composição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 (é feito de, parte dependente)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570"/>
                </a:solidFill>
                <a:latin typeface="Calibri"/>
              </a:rPr>
              <a:t>Análise e Projeto de Sistemas OO  ·  Aula 02 — Conceitos de OO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570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570"/>
                </a:solidFill>
                <a:latin typeface="Calibri"/>
              </a:rPr>
              <a:t>PANORAMA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3A5F"/>
                </a:solidFill>
                <a:latin typeface="Cambria"/>
              </a:rPr>
              <a:t>Os três tipos e a força do vínculo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6126480" cy="22677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45920"/>
                <a:gridCol w="3291840"/>
                <a:gridCol w="118872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F3A5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marL="73152" marR="54864" marT="18288" marB="18288" anchor="ctr">
                    <a:solidFill>
                      <a:srgbClr val="E9EC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F3A5F"/>
                          </a:solidFill>
                          <a:latin typeface="Calibri"/>
                        </a:rPr>
                        <a:t>Significado</a:t>
                      </a:r>
                    </a:p>
                  </a:txBody>
                  <a:tcPr marL="73152" marR="54864" marT="18288" marB="18288" anchor="ctr">
                    <a:solidFill>
                      <a:srgbClr val="E9EC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F3A5F"/>
                          </a:solidFill>
                          <a:latin typeface="Calibri"/>
                        </a:rPr>
                        <a:t>Força</a:t>
                      </a:r>
                    </a:p>
                  </a:txBody>
                  <a:tcPr marL="73152" marR="54864" marT="18288" marB="18288" anchor="ctr">
                    <a:solidFill>
                      <a:srgbClr val="E9ECF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Associação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um objeto usa/conhece o outro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fraca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Agregação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todo-parte; a parte é independente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média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Composição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todo-parte; a parte morre com o todo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forte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040880" y="1417320"/>
            <a:ext cx="4602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Notação UML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0" y="1965960"/>
            <a:ext cx="640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965960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040880" y="2295144"/>
            <a:ext cx="640080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0241280" y="1965960"/>
            <a:ext cx="640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1965960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241280" y="2295144"/>
            <a:ext cx="640079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80960" y="2130552"/>
            <a:ext cx="2560320" cy="0"/>
          </a:xfrm>
          <a:prstGeom prst="line">
            <a:avLst/>
          </a:prstGeom>
          <a:ln w="15875">
            <a:solidFill>
              <a:srgbClr val="5B65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040880" y="242316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Associação — linha com seta (navegação)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301752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3017520"/>
            <a:ext cx="1005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Todo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40880" y="3346703"/>
            <a:ext cx="1005840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0241280" y="301752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0" y="3017520"/>
            <a:ext cx="1005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Parte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241280" y="3346703"/>
            <a:ext cx="1005839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046720" y="3182112"/>
            <a:ext cx="2194560" cy="0"/>
          </a:xfrm>
          <a:prstGeom prst="line">
            <a:avLst/>
          </a:prstGeom>
          <a:ln w="15875">
            <a:solidFill>
              <a:srgbClr val="5B65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iamond 20"/>
          <p:cNvSpPr/>
          <p:nvPr/>
        </p:nvSpPr>
        <p:spPr>
          <a:xfrm>
            <a:off x="7918704" y="3105302"/>
            <a:ext cx="256032" cy="153619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3474720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Agregação — losango VAZIO ◇ no lado do todo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4069079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4069079"/>
            <a:ext cx="1005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Todo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40880" y="4398264"/>
            <a:ext cx="1005840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0241280" y="4069079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0" y="4069079"/>
            <a:ext cx="1005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Parte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241280" y="4398264"/>
            <a:ext cx="1005839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046720" y="4233671"/>
            <a:ext cx="2194560" cy="0"/>
          </a:xfrm>
          <a:prstGeom prst="line">
            <a:avLst/>
          </a:prstGeom>
          <a:ln w="15875">
            <a:solidFill>
              <a:srgbClr val="5B65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Diamond 29"/>
          <p:cNvSpPr/>
          <p:nvPr/>
        </p:nvSpPr>
        <p:spPr>
          <a:xfrm>
            <a:off x="7918704" y="4156862"/>
            <a:ext cx="256032" cy="153619"/>
          </a:xfrm>
          <a:prstGeom prst="diamond">
            <a:avLst/>
          </a:prstGeom>
          <a:solidFill>
            <a:srgbClr val="1A1A1A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4526279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Composição — losango CHEIO ◆ no lado do todo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937760"/>
            <a:ext cx="6126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A1A1A"/>
                </a:solidFill>
                <a:latin typeface="Calibri"/>
              </a:rPr>
              <a:t>🧭 A pergunta que decide tudo: </a:t>
            </a:r>
            <a:r>
              <a:rPr sz="1350" b="0" i="1">
                <a:solidFill>
                  <a:srgbClr val="1A1A1A"/>
                </a:solidFill>
                <a:latin typeface="Calibri"/>
              </a:rPr>
              <a:t>“a parte sobrevive sem o todo?”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Sim → associação/agregação.  Não → composição.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570"/>
                </a:solidFill>
                <a:latin typeface="Calibri"/>
              </a:rPr>
              <a:t>Análise e Projeto de Sistemas OO  ·  Aula 02 — Conceitos de OO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570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570"/>
                </a:solidFill>
                <a:latin typeface="Calibri"/>
              </a:rPr>
              <a:t>CONCEITO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3A5F"/>
                </a:solidFill>
                <a:latin typeface="Cambria"/>
              </a:rPr>
              <a:t>Associação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94415" cy="105156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90472"/>
            <a:ext cx="10728655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F3A5F"/>
                </a:solidFill>
                <a:latin typeface="Calibri"/>
              </a:rPr>
              <a:t>Definição.  </a:t>
            </a:r>
            <a:r>
              <a:rPr sz="1550" b="0" i="0">
                <a:solidFill>
                  <a:srgbClr val="1A1A1A"/>
                </a:solidFill>
                <a:latin typeface="Calibri"/>
              </a:rPr>
              <a:t>Associação é um vínculo estrutural em que objetos de uma classe </a:t>
            </a:r>
            <a:r>
              <a:rPr sz="1550" b="1" i="0">
                <a:solidFill>
                  <a:srgbClr val="1A1A1A"/>
                </a:solidFill>
                <a:latin typeface="Calibri"/>
              </a:rPr>
              <a:t>conhecem/usam</a:t>
            </a:r>
            <a:r>
              <a:rPr sz="1550" b="0" i="0">
                <a:solidFill>
                  <a:srgbClr val="1A1A1A"/>
                </a:solidFill>
                <a:latin typeface="Calibri"/>
              </a:rPr>
              <a:t> objetos de outra, podendo trocar mensagens. É o relacionamento mais fraco: as duas partes existem de forma independente.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7568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570"/>
                </a:solidFill>
                <a:latin typeface="Calibri"/>
              </a:rPr>
              <a:t>— Booch et al., The Unified Modeling Language User Guide (1999).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3291840"/>
            <a:ext cx="2286000" cy="608076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329184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Ouvinte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03120" y="3621024"/>
            <a:ext cx="2286000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194560" y="3666744"/>
            <a:ext cx="2103120" cy="205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- nome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3291840"/>
            <a:ext cx="2286000" cy="608076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329184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Artista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55279" y="3621024"/>
            <a:ext cx="2286001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46719" y="3666744"/>
            <a:ext cx="2103120" cy="205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- nomeArtistico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89120" y="3595878"/>
            <a:ext cx="3566159" cy="0"/>
          </a:xfrm>
          <a:prstGeom prst="line">
            <a:avLst/>
          </a:prstGeom>
          <a:ln w="15875">
            <a:solidFill>
              <a:srgbClr val="5B65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66360" y="332155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570"/>
                </a:solidFill>
                <a:latin typeface="Calibri"/>
              </a:rPr>
              <a:t>segue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30327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570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59" y="330327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570"/>
                </a:solidFill>
                <a:latin typeface="Calibri"/>
              </a:rPr>
              <a:t>0..*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No Melodia: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um Ouvinte segue Artistas. O artista existe por conta própria; o ouvinte apenas o referencia. Multiplicidade: um ouvinte segue 0..* artistas.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570"/>
                </a:solidFill>
                <a:latin typeface="Calibri"/>
              </a:rPr>
              <a:t>Análise e Projeto de Sistemas OO  ·  Aula 02 — Conceitos de OO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570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570"/>
                </a:solidFill>
                <a:latin typeface="Calibri"/>
              </a:rPr>
              <a:t>CONCEITO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3A5F"/>
                </a:solidFill>
                <a:latin typeface="Cambria"/>
              </a:rPr>
              <a:t>Agregação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94415" cy="105156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90472"/>
            <a:ext cx="10728655" cy="832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F3A5F"/>
                </a:solidFill>
                <a:latin typeface="Calibri"/>
              </a:rPr>
              <a:t>Definição.  </a:t>
            </a:r>
            <a:r>
              <a:rPr sz="1550" b="0" i="0">
                <a:solidFill>
                  <a:srgbClr val="1A1A1A"/>
                </a:solidFill>
                <a:latin typeface="Calibri"/>
              </a:rPr>
              <a:t>Agregação é uma associação </a:t>
            </a:r>
            <a:r>
              <a:rPr sz="1550" b="1" i="0">
                <a:solidFill>
                  <a:srgbClr val="1A1A1A"/>
                </a:solidFill>
                <a:latin typeface="Calibri"/>
              </a:rPr>
              <a:t>todo-parte</a:t>
            </a:r>
            <a:r>
              <a:rPr sz="1550" b="0" i="0">
                <a:solidFill>
                  <a:srgbClr val="1A1A1A"/>
                </a:solidFill>
                <a:latin typeface="Calibri"/>
              </a:rPr>
              <a:t> em que a parte é </a:t>
            </a:r>
            <a:r>
              <a:rPr sz="1550" b="1" i="0">
                <a:solidFill>
                  <a:srgbClr val="1A1A1A"/>
                </a:solidFill>
                <a:latin typeface="Calibri"/>
              </a:rPr>
              <a:t>independente</a:t>
            </a:r>
            <a:r>
              <a:rPr sz="1550" b="0" i="0">
                <a:solidFill>
                  <a:srgbClr val="1A1A1A"/>
                </a:solidFill>
                <a:latin typeface="Calibri"/>
              </a:rPr>
              <a:t> do todo: ela existe antes, pode ser compartilhada e sobrevive se o todo for destruído. Notação: losango </a:t>
            </a:r>
            <a:r>
              <a:rPr sz="1550" b="1" i="0">
                <a:solidFill>
                  <a:srgbClr val="1A1A1A"/>
                </a:solidFill>
                <a:latin typeface="Calibri"/>
              </a:rPr>
              <a:t>vazio ◇</a:t>
            </a:r>
            <a:r>
              <a:rPr sz="1550" b="0" i="0">
                <a:solidFill>
                  <a:srgbClr val="1A1A1A"/>
                </a:solidFill>
                <a:latin typeface="Calibri"/>
              </a:rPr>
              <a:t> no lado do todo.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3383280"/>
            <a:ext cx="2286000" cy="608076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338328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Playlist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3712464"/>
            <a:ext cx="2286000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194560" y="3758184"/>
            <a:ext cx="2103120" cy="205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- nome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3383280"/>
            <a:ext cx="2286000" cy="608076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338328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Musica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55279" y="3712464"/>
            <a:ext cx="2286001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46719" y="3758184"/>
            <a:ext cx="2103120" cy="205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- titulo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89120" y="3687318"/>
            <a:ext cx="3566159" cy="0"/>
          </a:xfrm>
          <a:prstGeom prst="line">
            <a:avLst/>
          </a:prstGeom>
          <a:ln w="15875">
            <a:solidFill>
              <a:srgbClr val="5B65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iamond 14"/>
          <p:cNvSpPr/>
          <p:nvPr/>
        </p:nvSpPr>
        <p:spPr>
          <a:xfrm>
            <a:off x="4261104" y="3610508"/>
            <a:ext cx="256032" cy="153619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341299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570"/>
                </a:solidFill>
                <a:latin typeface="Calibri"/>
              </a:rPr>
              <a:t>contém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39471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570"/>
                </a:solidFill>
                <a:latin typeface="Calibri"/>
              </a:rPr>
              <a:t>0..*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59" y="339471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570"/>
                </a:solidFill>
                <a:latin typeface="Calibri"/>
              </a:rPr>
              <a:t>0..*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7492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No Melodia: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uma Playlist contém Músicas que já existem no catálogo e podem estar em várias playlists. Apagar a playlist </a:t>
            </a:r>
            <a:r>
              <a:rPr sz="1400" b="1" i="0">
                <a:solidFill>
                  <a:srgbClr val="1A1A1A"/>
                </a:solidFill>
                <a:latin typeface="Calibri"/>
              </a:rPr>
              <a:t>não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 apaga as músicas.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570"/>
                </a:solidFill>
                <a:latin typeface="Calibri"/>
              </a:rPr>
              <a:t>Análise e Projeto de Sistemas OO  ·  Aula 02 — Conceitos de OO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570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570"/>
                </a:solidFill>
                <a:latin typeface="Calibri"/>
              </a:rPr>
              <a:t>CONCEITO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3A5F"/>
                </a:solidFill>
                <a:latin typeface="Cambria"/>
              </a:rPr>
              <a:t>Composição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94415" cy="105156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90472"/>
            <a:ext cx="10728655" cy="832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F3A5F"/>
                </a:solidFill>
                <a:latin typeface="Calibri"/>
              </a:rPr>
              <a:t>Definição.  </a:t>
            </a:r>
            <a:r>
              <a:rPr sz="1550" b="0" i="0">
                <a:solidFill>
                  <a:srgbClr val="1A1A1A"/>
                </a:solidFill>
                <a:latin typeface="Calibri"/>
              </a:rPr>
              <a:t>Composição é uma associação </a:t>
            </a:r>
            <a:r>
              <a:rPr sz="1550" b="1" i="0">
                <a:solidFill>
                  <a:srgbClr val="1A1A1A"/>
                </a:solidFill>
                <a:latin typeface="Calibri"/>
              </a:rPr>
              <a:t>todo-parte forte</a:t>
            </a:r>
            <a:r>
              <a:rPr sz="1550" b="0" i="0">
                <a:solidFill>
                  <a:srgbClr val="1A1A1A"/>
                </a:solidFill>
                <a:latin typeface="Calibri"/>
              </a:rPr>
              <a:t>: a parte </a:t>
            </a:r>
            <a:r>
              <a:rPr sz="1550" b="1" i="0">
                <a:solidFill>
                  <a:srgbClr val="1A1A1A"/>
                </a:solidFill>
                <a:latin typeface="Calibri"/>
              </a:rPr>
              <a:t>pertence a um único todo</a:t>
            </a:r>
            <a:r>
              <a:rPr sz="1550" b="0" i="0">
                <a:solidFill>
                  <a:srgbClr val="1A1A1A"/>
                </a:solidFill>
                <a:latin typeface="Calibri"/>
              </a:rPr>
              <a:t> e é </a:t>
            </a:r>
            <a:r>
              <a:rPr sz="1550" b="1" i="0">
                <a:solidFill>
                  <a:srgbClr val="1A1A1A"/>
                </a:solidFill>
                <a:latin typeface="Calibri"/>
              </a:rPr>
              <a:t>destruída junto</a:t>
            </a:r>
            <a:r>
              <a:rPr sz="1550" b="0" i="0">
                <a:solidFill>
                  <a:srgbClr val="1A1A1A"/>
                </a:solidFill>
                <a:latin typeface="Calibri"/>
              </a:rPr>
              <a:t> com ele. Notação: losango </a:t>
            </a:r>
            <a:r>
              <a:rPr sz="1550" b="1" i="0">
                <a:solidFill>
                  <a:srgbClr val="1A1A1A"/>
                </a:solidFill>
                <a:latin typeface="Calibri"/>
              </a:rPr>
              <a:t>cheio ◆</a:t>
            </a:r>
            <a:r>
              <a:rPr sz="1550" b="0" i="0">
                <a:solidFill>
                  <a:srgbClr val="1A1A1A"/>
                </a:solidFill>
                <a:latin typeface="Calibri"/>
              </a:rPr>
              <a:t> no lado do todo.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3383280"/>
            <a:ext cx="228600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338328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Album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3712464"/>
            <a:ext cx="2286000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194560" y="3758184"/>
            <a:ext cx="21031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- titulo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- ano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3383280"/>
            <a:ext cx="2286000" cy="608076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338328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Musica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55279" y="3712464"/>
            <a:ext cx="2286001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46719" y="3758184"/>
            <a:ext cx="2103120" cy="205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- titulo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389120" y="3687318"/>
            <a:ext cx="3566159" cy="93726"/>
          </a:xfrm>
          <a:prstGeom prst="line">
            <a:avLst/>
          </a:prstGeom>
          <a:ln w="15875">
            <a:solidFill>
              <a:srgbClr val="5B65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iamond 14"/>
          <p:cNvSpPr/>
          <p:nvPr/>
        </p:nvSpPr>
        <p:spPr>
          <a:xfrm>
            <a:off x="4261104" y="3704234"/>
            <a:ext cx="256032" cy="153619"/>
          </a:xfrm>
          <a:prstGeom prst="diamond">
            <a:avLst/>
          </a:prstGeom>
          <a:solidFill>
            <a:srgbClr val="1A1A1A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3459861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570"/>
                </a:solidFill>
                <a:latin typeface="Calibri"/>
              </a:rPr>
              <a:t>faixas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488436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570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59" y="339471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570"/>
                </a:solidFill>
                <a:latin typeface="Calibri"/>
              </a:rPr>
              <a:t>1..*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2578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No Melodia: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um Álbum é feito de Faixas (músicas) que nascem dentro dele e não existem soltas. Apagar o álbum </a:t>
            </a:r>
            <a:r>
              <a:rPr sz="1400" b="1" i="0">
                <a:solidFill>
                  <a:srgbClr val="1A1A1A"/>
                </a:solidFill>
                <a:latin typeface="Calibri"/>
              </a:rPr>
              <a:t>apaga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 as faixas. Cada faixa pertence a um único álbum.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570"/>
                </a:solidFill>
                <a:latin typeface="Calibri"/>
              </a:rPr>
              <a:t>Análise e Projeto de Sistemas OO  ·  Aula 02 — Conceitos de OO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570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570"/>
                </a:solidFill>
                <a:latin typeface="Calibri"/>
              </a:rPr>
              <a:t>O PAR QUE CONFUNDE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3A5F"/>
                </a:solidFill>
                <a:latin typeface="Cambria"/>
              </a:rPr>
              <a:t>Agregação × Composição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1A1A1A"/>
                </a:solidFill>
                <a:latin typeface="Calibri"/>
              </a:rPr>
              <a:t>A mesma classe </a:t>
            </a:r>
            <a:r>
              <a:rPr sz="1450" b="1" i="0">
                <a:solidFill>
                  <a:srgbClr val="1A1A1A"/>
                </a:solidFill>
                <a:latin typeface="Calibri"/>
              </a:rPr>
              <a:t>Musica</a:t>
            </a:r>
            <a:r>
              <a:rPr sz="1450" b="0" i="0">
                <a:solidFill>
                  <a:srgbClr val="1A1A1A"/>
                </a:solidFill>
                <a:latin typeface="Calibri"/>
              </a:rPr>
              <a:t> participa dos dois — o que muda é a resposta a: </a:t>
            </a:r>
            <a:r>
              <a:rPr sz="1450" b="1" i="1">
                <a:solidFill>
                  <a:srgbClr val="1A1A1A"/>
                </a:solidFill>
                <a:latin typeface="Calibri"/>
              </a:rPr>
              <a:t>“a parte sobrevive sem o todo?”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3108960"/>
            <a:ext cx="2286000" cy="608076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10896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Album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80160" y="3438144"/>
            <a:ext cx="2286000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371600" y="3483863"/>
            <a:ext cx="2103120" cy="205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- titulo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3108960"/>
            <a:ext cx="2286000" cy="608076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310896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Musica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12080" y="3438144"/>
            <a:ext cx="2285999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303520" y="3483863"/>
            <a:ext cx="2103120" cy="205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- titulo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3108960"/>
            <a:ext cx="2286000" cy="608076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310896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Playlist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0" y="3438144"/>
            <a:ext cx="2286000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235440" y="3483863"/>
            <a:ext cx="2103120" cy="205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- nome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66160" y="3412998"/>
            <a:ext cx="1645920" cy="0"/>
          </a:xfrm>
          <a:prstGeom prst="line">
            <a:avLst/>
          </a:prstGeom>
          <a:ln w="15875">
            <a:solidFill>
              <a:srgbClr val="5B65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iamond 17"/>
          <p:cNvSpPr/>
          <p:nvPr/>
        </p:nvSpPr>
        <p:spPr>
          <a:xfrm>
            <a:off x="3438144" y="3336188"/>
            <a:ext cx="256032" cy="153619"/>
          </a:xfrm>
          <a:prstGeom prst="diamond">
            <a:avLst/>
          </a:prstGeom>
          <a:solidFill>
            <a:srgbClr val="1A1A1A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79" y="313867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570"/>
                </a:solidFill>
                <a:latin typeface="Calibri"/>
              </a:rPr>
              <a:t>faixas 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12039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570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12039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570"/>
                </a:solidFill>
                <a:latin typeface="Calibri"/>
              </a:rPr>
              <a:t>1..*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7498079" y="3412998"/>
            <a:ext cx="1645921" cy="0"/>
          </a:xfrm>
          <a:prstGeom prst="line">
            <a:avLst/>
          </a:prstGeom>
          <a:ln w="15875">
            <a:solidFill>
              <a:srgbClr val="5B65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Diamond 22"/>
          <p:cNvSpPr/>
          <p:nvPr/>
        </p:nvSpPr>
        <p:spPr>
          <a:xfrm>
            <a:off x="9015984" y="3336188"/>
            <a:ext cx="256032" cy="153619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313867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570"/>
                </a:solidFill>
                <a:latin typeface="Calibri"/>
              </a:rPr>
              <a:t>contém 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312039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570"/>
                </a:solidFill>
                <a:latin typeface="Calibri"/>
              </a:rPr>
              <a:t>0..*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59" y="312039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570"/>
                </a:solidFill>
                <a:latin typeface="Calibri"/>
              </a:rPr>
              <a:t>0..*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48640" y="4114800"/>
          <a:ext cx="11064240" cy="1828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206240"/>
                <a:gridCol w="3200400"/>
                <a:gridCol w="365760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3A5F"/>
                          </a:solidFill>
                          <a:latin typeface="Calibri"/>
                        </a:rPr>
                        <a:t>Pergunta</a:t>
                      </a:r>
                    </a:p>
                  </a:txBody>
                  <a:tcPr marL="73152" marR="54864" marT="18288" marB="18288" anchor="ctr">
                    <a:solidFill>
                      <a:srgbClr val="E9EC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3A5F"/>
                          </a:solidFill>
                          <a:latin typeface="Calibri"/>
                        </a:rPr>
                        <a:t>Agregação ◇</a:t>
                      </a:r>
                    </a:p>
                  </a:txBody>
                  <a:tcPr marL="73152" marR="54864" marT="18288" marB="18288" anchor="ctr">
                    <a:solidFill>
                      <a:srgbClr val="E9EC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3A5F"/>
                          </a:solidFill>
                          <a:latin typeface="Calibri"/>
                        </a:rPr>
                        <a:t>Composição ◆</a:t>
                      </a:r>
                    </a:p>
                  </a:txBody>
                  <a:tcPr marL="73152" marR="54864" marT="18288" marB="18288" anchor="ctr">
                    <a:solidFill>
                      <a:srgbClr val="E9ECF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 parte sobrevive sem o todo?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Sim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 parte pode ser compartilhada?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Sim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Não (exclusiva)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Apagar o todo apaga a parte?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Sim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Exemplo no Melodia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Playlist ◇ Musica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Album ◆ Musica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570"/>
                </a:solidFill>
                <a:latin typeface="Calibri"/>
              </a:rPr>
              <a:t>Análise e Projeto de Sistemas OO  ·  Aula 02 — Conceitos de OO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570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570"/>
                </a:solidFill>
                <a:latin typeface="Calibri"/>
              </a:rPr>
              <a:t>NOTAÇÃO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3A5F"/>
                </a:solidFill>
                <a:latin typeface="Cambria"/>
              </a:rPr>
              <a:t>Multiplicidade: quantos de cada lado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5120640" cy="2743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7360"/>
                <a:gridCol w="33832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F3A5F"/>
                          </a:solidFill>
                          <a:latin typeface="Calibri"/>
                        </a:rPr>
                        <a:t>Símbolo</a:t>
                      </a:r>
                    </a:p>
                  </a:txBody>
                  <a:tcPr marL="73152" marR="54864" marT="18288" marB="18288" anchor="ctr">
                    <a:solidFill>
                      <a:srgbClr val="E9EC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F3A5F"/>
                          </a:solidFill>
                          <a:latin typeface="Calibri"/>
                        </a:rPr>
                        <a:t>Significado</a:t>
                      </a:r>
                    </a:p>
                  </a:txBody>
                  <a:tcPr marL="73152" marR="54864" marT="18288" marB="18288" anchor="ctr">
                    <a:solidFill>
                      <a:srgbClr val="E9EC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exatamente um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0..1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zero ou um (opcional)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*  ou  0..*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zero ou muitos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1..*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um ou muitos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m..n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entre m e 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35040" y="1417320"/>
            <a:ext cx="5608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Exemplos no Melodia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35040" y="1828800"/>
          <a:ext cx="5577840" cy="2286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108960"/>
                <a:gridCol w="24688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Calibri"/>
                        </a:rPr>
                        <a:t>Relação</a:t>
                      </a:r>
                    </a:p>
                  </a:txBody>
                  <a:tcPr marL="73152" marR="54864" marT="18288" marB="18288" anchor="ctr">
                    <a:solidFill>
                      <a:srgbClr val="E9EC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Calibri"/>
                        </a:rPr>
                        <a:t>Multiplicidade</a:t>
                      </a:r>
                    </a:p>
                  </a:txBody>
                  <a:tcPr marL="73152" marR="54864" marT="18288" marB="18288" anchor="ctr">
                    <a:solidFill>
                      <a:srgbClr val="E9EC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Ouvinte possui Assinatura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 — 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Album é feito de Musica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 — 1..*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Playlist contém Musica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0..* — 0..*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Ouvinte segue Artista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0..* — 0..*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389120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Leia sempre nos dois sentidos: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“um Álbum tem 1..* Músicas; cada Música pertence a 1 Álbum”.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570"/>
                </a:solidFill>
                <a:latin typeface="Calibri"/>
              </a:rPr>
              <a:t>Análise e Projeto de Sistemas OO  ·  Aula 02 — Conceitos de 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570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570"/>
                </a:solidFill>
                <a:latin typeface="Calibri"/>
              </a:rPr>
              <a:t>EXEMPLO COMPLETO — v1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3A5F"/>
                </a:solidFill>
                <a:latin typeface="Cambria"/>
              </a:rPr>
              <a:t>Só classes, sem relacionamentos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65960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Ouvinte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2295144"/>
            <a:ext cx="2286000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052560" y="1965960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0" y="196596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Artista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052560" y="2295144"/>
            <a:ext cx="2286000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22960" y="4297680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Playlist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4626864"/>
            <a:ext cx="2286000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52560" y="4297680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429768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Album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52560" y="4626864"/>
            <a:ext cx="2286000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212080" y="3154680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315468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Musica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12080" y="3483864"/>
            <a:ext cx="2285999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8640" y="5394960"/>
            <a:ext cx="11094415" cy="914400"/>
          </a:xfrm>
          <a:prstGeom prst="roundRect">
            <a:avLst/>
          </a:prstGeom>
          <a:solidFill>
            <a:srgbClr val="F8D7DA"/>
          </a:solidFill>
          <a:ln w="12700">
            <a:solidFill>
              <a:srgbClr val="B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504688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B06060"/>
                </a:solidFill>
                <a:latin typeface="Calibri"/>
              </a:rPr>
              <a:t>❌ O que dá errado: 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as classes existem, mas o sistema não sabe de nada — quais músicas há numa playlist? de quem é o álbum? quem o ouvinte segue? Sem relacionamentos, não há sistema, só peças soltas.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570"/>
                </a:solidFill>
                <a:latin typeface="Calibri"/>
              </a:rPr>
              <a:t>Análise e Projeto de Sistemas OO  ·  Aula 02 — Conceitos de OO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570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570"/>
                </a:solidFill>
                <a:latin typeface="Calibri"/>
              </a:rPr>
              <a:t>EXEMPLO COMPLETO —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3A5F"/>
                </a:solidFill>
                <a:latin typeface="Cambria"/>
              </a:rPr>
              <a:t>Associação: Ouvinte segue Artista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65960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Ouvinte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2295144"/>
            <a:ext cx="2286000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052560" y="1965960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0" y="196596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Artista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052560" y="2295144"/>
            <a:ext cx="2286000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22960" y="4297680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Playlist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4626864"/>
            <a:ext cx="2286000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52560" y="4297680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429768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Album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52560" y="4626864"/>
            <a:ext cx="2286000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212080" y="3154680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315468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Musica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12080" y="3483864"/>
            <a:ext cx="2285999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108960" y="2130552"/>
            <a:ext cx="5943600" cy="0"/>
          </a:xfrm>
          <a:prstGeom prst="line">
            <a:avLst/>
          </a:prstGeom>
          <a:ln w="15875">
            <a:solidFill>
              <a:srgbClr val="5B65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74920" y="185623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570"/>
                </a:solidFill>
                <a:latin typeface="Calibri"/>
              </a:rPr>
              <a:t>segue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8640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E7D32"/>
                </a:solidFill>
                <a:latin typeface="Calibri"/>
              </a:rPr>
              <a:t>✅ Ganho: 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agora o sistema sabe quem cada ouvinte acompanha. A associação é o vínculo mais fraco — só 'conhece'. O Artista continua existindo por conta própria.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570"/>
                </a:solidFill>
                <a:latin typeface="Calibri"/>
              </a:rPr>
              <a:t>Análise e Projeto de Sistemas OO  ·  Aula 02 — Conceitos de OO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570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570"/>
                </a:solidFill>
                <a:latin typeface="Calibri"/>
              </a:rPr>
              <a:t>EXEMPLO COMPLETO — v3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3A5F"/>
                </a:solidFill>
                <a:latin typeface="Cambria"/>
              </a:rPr>
              <a:t>Agregação: Playlist ◇ Musica (e o perigo de errar)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65960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Ouvinte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2295144"/>
            <a:ext cx="2286000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052560" y="1965960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0" y="196596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Artista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052560" y="2295144"/>
            <a:ext cx="2286000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22960" y="4297680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Playlist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4626864"/>
            <a:ext cx="2286000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52560" y="4297680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429768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Album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52560" y="4626864"/>
            <a:ext cx="2286000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212080" y="3154680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315468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Musica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12080" y="3483864"/>
            <a:ext cx="2285999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108960" y="2130552"/>
            <a:ext cx="5943600" cy="0"/>
          </a:xfrm>
          <a:prstGeom prst="line">
            <a:avLst/>
          </a:prstGeom>
          <a:ln w="15875">
            <a:solidFill>
              <a:srgbClr val="5B65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74920" y="185623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570"/>
                </a:solidFill>
                <a:latin typeface="Calibri"/>
              </a:rPr>
              <a:t>segue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965960" y="2295144"/>
            <a:ext cx="0" cy="2002536"/>
          </a:xfrm>
          <a:prstGeom prst="line">
            <a:avLst/>
          </a:prstGeom>
          <a:ln w="15875">
            <a:solidFill>
              <a:srgbClr val="5B65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iamond 21"/>
          <p:cNvSpPr/>
          <p:nvPr/>
        </p:nvSpPr>
        <p:spPr>
          <a:xfrm>
            <a:off x="1837943" y="2218334"/>
            <a:ext cx="256032" cy="153619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19" y="30220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570"/>
                </a:solidFill>
                <a:latin typeface="Calibri"/>
              </a:rPr>
              <a:t>monta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108960" y="3319272"/>
            <a:ext cx="2103120" cy="1143000"/>
          </a:xfrm>
          <a:prstGeom prst="line">
            <a:avLst/>
          </a:prstGeom>
          <a:ln w="15875">
            <a:solidFill>
              <a:srgbClr val="5B65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Diamond 24"/>
          <p:cNvSpPr/>
          <p:nvPr/>
        </p:nvSpPr>
        <p:spPr>
          <a:xfrm>
            <a:off x="2980944" y="4385462"/>
            <a:ext cx="256032" cy="153619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54679" y="361645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570"/>
                </a:solidFill>
                <a:latin typeface="Calibri"/>
              </a:rPr>
              <a:t>contém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440680"/>
            <a:ext cx="11094415" cy="914400"/>
          </a:xfrm>
          <a:prstGeom prst="roundRect">
            <a:avLst/>
          </a:prstGeom>
          <a:solidFill>
            <a:srgbClr val="F8D7DA"/>
          </a:solidFill>
          <a:ln w="12700">
            <a:solidFill>
              <a:srgbClr val="B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532120"/>
            <a:ext cx="1072865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06060"/>
                </a:solidFill>
                <a:latin typeface="Calibri"/>
              </a:rPr>
              <a:t>⚠️ E se usássemos composição ◆ aqui?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apagar uma playlist apagaria a música do catálogo — e a mesma música costuma estar em várias playlists e no álbum! Por isso é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agregação ◇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(a música sobrevive).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570"/>
                </a:solidFill>
                <a:latin typeface="Calibri"/>
              </a:rPr>
              <a:t>Análise e Projeto de Sistemas OO  ·  Aula 02 — Conceitos de OO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570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570"/>
                </a:solidFill>
                <a:latin typeface="Calibri"/>
              </a:rPr>
              <a:t>EXEMPLO COMPLETO —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3A5F"/>
                </a:solidFill>
                <a:latin typeface="Cambria"/>
              </a:rPr>
              <a:t>Composição: Album ◆ Musica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65960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Ouvinte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2295144"/>
            <a:ext cx="2286000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052560" y="1965960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0" y="196596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Artista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052560" y="2295144"/>
            <a:ext cx="2286000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22960" y="4297680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Playlist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4626864"/>
            <a:ext cx="2286000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52560" y="4297680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429768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Album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52560" y="4626864"/>
            <a:ext cx="2286000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212080" y="3154680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315468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Musica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12080" y="3483864"/>
            <a:ext cx="2285999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108960" y="2130552"/>
            <a:ext cx="5943600" cy="0"/>
          </a:xfrm>
          <a:prstGeom prst="line">
            <a:avLst/>
          </a:prstGeom>
          <a:ln w="15875">
            <a:solidFill>
              <a:srgbClr val="5B65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74920" y="185623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570"/>
                </a:solidFill>
                <a:latin typeface="Calibri"/>
              </a:rPr>
              <a:t>segue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965960" y="2295144"/>
            <a:ext cx="0" cy="2002536"/>
          </a:xfrm>
          <a:prstGeom prst="line">
            <a:avLst/>
          </a:prstGeom>
          <a:ln w="15875">
            <a:solidFill>
              <a:srgbClr val="5B65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iamond 21"/>
          <p:cNvSpPr/>
          <p:nvPr/>
        </p:nvSpPr>
        <p:spPr>
          <a:xfrm>
            <a:off x="1837943" y="2218334"/>
            <a:ext cx="256032" cy="153619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19" y="30220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570"/>
                </a:solidFill>
                <a:latin typeface="Calibri"/>
              </a:rPr>
              <a:t>monta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108960" y="3319272"/>
            <a:ext cx="2103120" cy="1143000"/>
          </a:xfrm>
          <a:prstGeom prst="line">
            <a:avLst/>
          </a:prstGeom>
          <a:ln w="15875">
            <a:solidFill>
              <a:srgbClr val="5B65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Diamond 24"/>
          <p:cNvSpPr/>
          <p:nvPr/>
        </p:nvSpPr>
        <p:spPr>
          <a:xfrm>
            <a:off x="2980944" y="4385462"/>
            <a:ext cx="256032" cy="153619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54679" y="361645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570"/>
                </a:solidFill>
                <a:latin typeface="Calibri"/>
              </a:rPr>
              <a:t>contém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7498079" y="3319272"/>
            <a:ext cx="1554481" cy="1143000"/>
          </a:xfrm>
          <a:prstGeom prst="line">
            <a:avLst/>
          </a:prstGeom>
          <a:ln w="15875">
            <a:solidFill>
              <a:srgbClr val="5B65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/>
          <p:cNvSpPr/>
          <p:nvPr/>
        </p:nvSpPr>
        <p:spPr>
          <a:xfrm>
            <a:off x="8924544" y="4385462"/>
            <a:ext cx="256032" cy="153619"/>
          </a:xfrm>
          <a:prstGeom prst="diamond">
            <a:avLst/>
          </a:prstGeom>
          <a:solidFill>
            <a:srgbClr val="1A1A1A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80" y="361645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570"/>
                </a:solidFill>
                <a:latin typeface="Calibri"/>
              </a:rPr>
              <a:t>faixas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48640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E7D32"/>
                </a:solidFill>
                <a:latin typeface="Calibri"/>
              </a:rPr>
              <a:t>✅ Contraste: 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a faixa nasce e morre com o álbum (posse exclusiva) → composição ◆. A mesma Musica é ◆ no Album e ◇ na Playlist — a diferença é o ciclo de vida.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570"/>
                </a:solidFill>
                <a:latin typeface="Calibri"/>
              </a:rPr>
              <a:t>Análise e Projeto de Sistemas OO  ·  Aula 02 — Conceitos de OO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570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570"/>
                </a:solidFill>
                <a:latin typeface="Calibri"/>
              </a:rPr>
              <a:t>EXEMPLO COMPLETO —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3A5F"/>
                </a:solidFill>
                <a:latin typeface="Cambria"/>
              </a:rPr>
              <a:t>O modelo consolidado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65960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Ouvinte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2295144"/>
            <a:ext cx="2286000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052560" y="1965960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0" y="196596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Artista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052560" y="2295144"/>
            <a:ext cx="2286000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22960" y="4297680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Playlist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4626864"/>
            <a:ext cx="2286000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52560" y="4297680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429768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Album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52560" y="4626864"/>
            <a:ext cx="2286000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212080" y="3154680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315468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Musica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12080" y="3483864"/>
            <a:ext cx="2285999" cy="0"/>
          </a:xfrm>
          <a:prstGeom prst="line">
            <a:avLst/>
          </a:prstGeom>
          <a:ln w="12700">
            <a:solidFill>
              <a:srgbClr val="6C8E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108960" y="2130552"/>
            <a:ext cx="5943600" cy="0"/>
          </a:xfrm>
          <a:prstGeom prst="line">
            <a:avLst/>
          </a:prstGeom>
          <a:ln w="15875">
            <a:solidFill>
              <a:srgbClr val="5B65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74920" y="185623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570"/>
                </a:solidFill>
                <a:latin typeface="Calibri"/>
              </a:rPr>
              <a:t>segue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183794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570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183794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570"/>
                </a:solidFill>
                <a:latin typeface="Calibri"/>
              </a:rPr>
              <a:t>0..*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965960" y="2295144"/>
            <a:ext cx="0" cy="2002536"/>
          </a:xfrm>
          <a:prstGeom prst="line">
            <a:avLst/>
          </a:prstGeom>
          <a:ln w="15875">
            <a:solidFill>
              <a:srgbClr val="5B65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iamond 23"/>
          <p:cNvSpPr/>
          <p:nvPr/>
        </p:nvSpPr>
        <p:spPr>
          <a:xfrm>
            <a:off x="1837943" y="2218334"/>
            <a:ext cx="256032" cy="153619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19" y="30220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570"/>
                </a:solidFill>
                <a:latin typeface="Calibri"/>
              </a:rPr>
              <a:t>monta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39" y="2002536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570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39" y="400507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570"/>
                </a:solidFill>
                <a:latin typeface="Calibri"/>
              </a:rPr>
              <a:t>0..*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3108960" y="3319272"/>
            <a:ext cx="2103120" cy="1143000"/>
          </a:xfrm>
          <a:prstGeom prst="line">
            <a:avLst/>
          </a:prstGeom>
          <a:ln w="15875">
            <a:solidFill>
              <a:srgbClr val="5B65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Diamond 28"/>
          <p:cNvSpPr/>
          <p:nvPr/>
        </p:nvSpPr>
        <p:spPr>
          <a:xfrm>
            <a:off x="2980944" y="4385462"/>
            <a:ext cx="256032" cy="153619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54679" y="361645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570"/>
                </a:solidFill>
                <a:latin typeface="Calibri"/>
              </a:rPr>
              <a:t>contém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4169663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570"/>
                </a:solidFill>
                <a:latin typeface="Calibri"/>
              </a:rPr>
              <a:t>0..*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302666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570"/>
                </a:solidFill>
                <a:latin typeface="Calibri"/>
              </a:rPr>
              <a:t>0..*</a:t>
            </a:r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7498079" y="3319272"/>
            <a:ext cx="1554481" cy="1143000"/>
          </a:xfrm>
          <a:prstGeom prst="line">
            <a:avLst/>
          </a:prstGeom>
          <a:ln w="15875">
            <a:solidFill>
              <a:srgbClr val="5B65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Diamond 33"/>
          <p:cNvSpPr/>
          <p:nvPr/>
        </p:nvSpPr>
        <p:spPr>
          <a:xfrm>
            <a:off x="8924544" y="4385462"/>
            <a:ext cx="256032" cy="153619"/>
          </a:xfrm>
          <a:prstGeom prst="diamond">
            <a:avLst/>
          </a:prstGeom>
          <a:solidFill>
            <a:srgbClr val="1A1A1A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9480" y="361645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570"/>
                </a:solidFill>
                <a:latin typeface="Calibri"/>
              </a:rPr>
              <a:t>faixas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4169663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570"/>
                </a:solidFill>
                <a:latin typeface="Calibr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59" y="302666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570"/>
                </a:solidFill>
                <a:latin typeface="Calibri"/>
              </a:rPr>
              <a:t>1..*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6355080" y="2295144"/>
            <a:ext cx="3840480" cy="859536"/>
          </a:xfrm>
          <a:prstGeom prst="line">
            <a:avLst/>
          </a:prstGeom>
          <a:ln w="15875">
            <a:solidFill>
              <a:srgbClr val="5B65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269480" y="24505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570"/>
                </a:solidFill>
                <a:latin typeface="Calibri"/>
              </a:rPr>
              <a:t>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62356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B6570"/>
                </a:solidFill>
                <a:latin typeface="Calibri"/>
              </a:rPr>
              <a:t>Uma associação, duas agregações e uma composição — cada linha carrega uma decisão de modelagem justificada pelo domínio.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570"/>
                </a:solidFill>
                <a:latin typeface="Calibri"/>
              </a:rPr>
              <a:t>Análise e Projeto de Sistemas OO  ·  Aula 02 — Conceitos de OO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570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570"/>
                </a:solidFill>
                <a:latin typeface="Calibri"/>
              </a:rPr>
              <a:t>SENSO CRÍTICO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3A5F"/>
                </a:solidFill>
                <a:latin typeface="Cambria"/>
              </a:rPr>
              <a:t>Erros comuns de modelagem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•  Tratar tudo como associação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— perde a informação de ciclo de vida (quem é dono de quem).</a:t>
            </a:r>
          </a:p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•  Usar composição onde a parte é compartilhada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— como a música que está em várias playlists. Isso quebra o domínio.</a:t>
            </a:r>
          </a:p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•  Confundir agregação e composição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— sempre pergunte: “a parte sobrevive sem o todo?”.</a:t>
            </a:r>
          </a:p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•  Esquecer a multiplicidade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— sem ela, o diagrama não diz quantos de cada lado (e o banco fica ambíguo).</a:t>
            </a:r>
          </a:p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•  Colocar o losango no lado errado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— o losango fica sempre no lado do TODO, nunca da parte.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029200"/>
            <a:ext cx="11094415" cy="9144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38928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F3A5F"/>
                </a:solidFill>
                <a:latin typeface="Calibri"/>
              </a:rPr>
              <a:t>🧭 Regra de ouro:  </a:t>
            </a:r>
            <a:r>
              <a:rPr sz="1450" b="0" i="0">
                <a:solidFill>
                  <a:srgbClr val="1A1A1A"/>
                </a:solidFill>
                <a:latin typeface="Calibri"/>
              </a:rPr>
              <a:t>na dúvida entre composição e agregação, prefira </a:t>
            </a:r>
            <a:r>
              <a:rPr sz="1450" b="1" i="0">
                <a:solidFill>
                  <a:srgbClr val="1A1A1A"/>
                </a:solidFill>
                <a:latin typeface="Calibri"/>
              </a:rPr>
              <a:t>agregação</a:t>
            </a:r>
            <a:r>
              <a:rPr sz="1450" b="0" i="0">
                <a:solidFill>
                  <a:srgbClr val="1A1A1A"/>
                </a:solidFill>
                <a:latin typeface="Calibri"/>
              </a:rPr>
              <a:t>. Composição só quando a parte é exclusiva E morre com o todo.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570"/>
                </a:solidFill>
                <a:latin typeface="Calibri"/>
              </a:rPr>
              <a:t>Análise e Projeto de Sistemas OO  ·  Aula 02 — Conceitos de OO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570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570"/>
                </a:solidFill>
                <a:latin typeface="Calibri"/>
              </a:rPr>
              <a:t>PRÁTICA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3A5F"/>
                </a:solidFill>
                <a:latin typeface="Cambria"/>
              </a:rPr>
              <a:t>Exercícios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Três exercícios de modelagem, no domínio da Melodia (arquivos ao lado desta apresentação):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1.  Classificar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cinco relacionamentos (associação/agregação/composição) + multiplicidade.</a:t>
            </a:r>
          </a:p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2.  Modelar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um recurso novo (Podcast e Episódios) num diagrama de classes.</a:t>
            </a:r>
          </a:p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3.  Achar o erro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de um modelo (Playlist como composição de Música) e corrigi-lo.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114800"/>
            <a:ext cx="11094415" cy="13716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51960"/>
            <a:ext cx="1072865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📄 Enunciados:  </a:t>
            </a:r>
            <a:r>
              <a:rPr sz="1300" b="0" i="0">
                <a:solidFill>
                  <a:srgbClr val="1A1A1A"/>
                </a:solidFill>
                <a:latin typeface="Courier New"/>
              </a:rPr>
              <a:t>exercicios-relacionamentos-oo.md</a:t>
            </a:r>
          </a:p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✅ Gabarito (com diagrama de classes):  </a:t>
            </a:r>
            <a:r>
              <a:rPr sz="1300" b="0" i="0">
                <a:solidFill>
                  <a:srgbClr val="1A1A1A"/>
                </a:solidFill>
                <a:latin typeface="Courier New"/>
              </a:rPr>
              <a:t>exercicios-relacionamentos-oo-gabarito.md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B6570"/>
                </a:solidFill>
                <a:latin typeface="Calibri"/>
              </a:rPr>
              <a:t>Entrega no seu projeto: aplique os três relacionamentos ao domínio do grupo (projetos-em-grupo).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570"/>
                </a:solidFill>
                <a:latin typeface="Calibri"/>
              </a:rPr>
              <a:t>Análise e Projeto de Sistemas OO  ·  Aula 02 — Conceitos de OO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570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Conceitos de Orientação a Objetos</dc:title>
  <dc:subject>PptxGenJS Presentation</dc:subject>
  <dc:creator>Curso de Análise e Projeto OO</dc:creator>
  <cp:lastModifiedBy>Curso de Análise e Projeto OO</cp:lastModifiedBy>
  <cp:revision>1</cp:revision>
  <dcterms:created xsi:type="dcterms:W3CDTF">2026-08-27T19:53:17Z</dcterms:created>
  <dcterms:modified xsi:type="dcterms:W3CDTF">2026-08-27T19:53:17Z</dcterms:modified>
</cp:coreProperties>
</file>